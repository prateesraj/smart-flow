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1" r:id="rId4"/>
    <p:sldId id="262" r:id="rId5"/>
    <p:sldId id="263" r:id="rId6"/>
    <p:sldId id="264" r:id="rId7"/>
    <p:sldId id="265" r:id="rId8"/>
    <p:sldId id="267" r:id="rId9"/>
    <p:sldId id="268" r:id="rId10"/>
    <p:sldId id="269" r:id="rId11"/>
    <p:sldId id="270"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E354"/>
    <a:srgbClr val="122444"/>
    <a:srgbClr val="F3E8BC"/>
    <a:srgbClr val="FF4500"/>
    <a:srgbClr val="FFDB00"/>
    <a:srgbClr val="323232"/>
    <a:srgbClr val="035352"/>
    <a:srgbClr val="1A00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BE4666-D311-E6D0-FFFD-9220D6B36D79}" v="1" dt="2026-10-25T03:57:50.7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FE0B08B5-42F2-31F5-F5A0-3A5867C69782}"/>
              </a:ext>
            </a:extLst>
          </p:cNvPr>
          <p:cNvPicPr>
            <a:picLocks noChangeAspect="1"/>
          </p:cNvPicPr>
          <p:nvPr/>
        </p:nvPicPr>
        <p:blipFill>
          <a:blip r:embed="rId2">
            <a:alphaModFix amt="50000"/>
          </a:blip>
          <a:srcRect t="4947" b="4947"/>
          <a:stretch>
            <a:fillRect/>
          </a:stretch>
        </p:blipFill>
        <p:spPr>
          <a:xfrm>
            <a:off x="914" y="-1305"/>
            <a:ext cx="12193850" cy="7324855"/>
          </a:xfrm>
          <a:prstGeom prst="rect">
            <a:avLst/>
          </a:prstGeom>
        </p:spPr>
      </p:pic>
      <p:sp>
        <p:nvSpPr>
          <p:cNvPr id="7" name="TextBox 6">
            <a:extLst>
              <a:ext uri="{FF2B5EF4-FFF2-40B4-BE49-F238E27FC236}">
                <a16:creationId xmlns:a16="http://schemas.microsoft.com/office/drawing/2014/main" id="{70A37607-FA34-7A41-AE0E-BDDD9A903E58}"/>
              </a:ext>
            </a:extLst>
          </p:cNvPr>
          <p:cNvSpPr txBox="1"/>
          <p:nvPr/>
        </p:nvSpPr>
        <p:spPr>
          <a:xfrm>
            <a:off x="314065" y="1340289"/>
            <a:ext cx="530013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solidFill>
                  <a:schemeClr val="bg1"/>
                </a:solidFill>
                <a:latin typeface="Tw Cen MT"/>
              </a:rPr>
              <a:t>S</a:t>
            </a:r>
            <a:r>
              <a:rPr lang="en-US" sz="3200" b="1">
                <a:solidFill>
                  <a:schemeClr val="bg1"/>
                </a:solidFill>
                <a:latin typeface="Tw Cen MT"/>
              </a:rPr>
              <a:t>MART</a:t>
            </a:r>
            <a:r>
              <a:rPr lang="en-US" sz="3200" b="1">
                <a:latin typeface="Tw Cen MT"/>
              </a:rPr>
              <a:t> </a:t>
            </a:r>
            <a:r>
              <a:rPr lang="en-US" sz="9600" b="1">
                <a:solidFill>
                  <a:schemeClr val="bg1"/>
                </a:solidFill>
                <a:latin typeface="Tw Cen MT"/>
              </a:rPr>
              <a:t>F</a:t>
            </a:r>
            <a:r>
              <a:rPr lang="en-US" sz="3200" b="1">
                <a:solidFill>
                  <a:schemeClr val="bg1"/>
                </a:solidFill>
                <a:latin typeface="Tw Cen MT"/>
              </a:rPr>
              <a:t>LOW</a:t>
            </a:r>
          </a:p>
        </p:txBody>
      </p:sp>
      <p:sp>
        <p:nvSpPr>
          <p:cNvPr id="2" name="TextBox 1">
            <a:extLst>
              <a:ext uri="{FF2B5EF4-FFF2-40B4-BE49-F238E27FC236}">
                <a16:creationId xmlns:a16="http://schemas.microsoft.com/office/drawing/2014/main" id="{A814EE31-2343-733F-0134-996D0F8C1915}"/>
              </a:ext>
            </a:extLst>
          </p:cNvPr>
          <p:cNvSpPr txBox="1"/>
          <p:nvPr/>
        </p:nvSpPr>
        <p:spPr>
          <a:xfrm>
            <a:off x="465400" y="2535740"/>
            <a:ext cx="5419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Franklin Gothic Demi"/>
                <a:ea typeface="Calibri"/>
                <a:cs typeface="Calibri"/>
              </a:rPr>
              <a:t>SMART HOUSEHOLD WATER USAGE MONITOR</a:t>
            </a:r>
          </a:p>
        </p:txBody>
      </p:sp>
    </p:spTree>
    <p:extLst>
      <p:ext uri="{BB962C8B-B14F-4D97-AF65-F5344CB8AC3E}">
        <p14:creationId xmlns:p14="http://schemas.microsoft.com/office/powerpoint/2010/main" val="3104311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65D0BD9-605C-D302-2C60-3FB852C522A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4466906-4896-DD56-7D00-B779D1BA2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2D9BFBB3-A5E6-A9B6-D263-C8408F8432C1}"/>
              </a:ext>
            </a:extLst>
          </p:cNvPr>
          <p:cNvPicPr>
            <a:picLocks noChangeAspect="1"/>
          </p:cNvPicPr>
          <p:nvPr/>
        </p:nvPicPr>
        <p:blipFill>
          <a:blip r:embed="rId2">
            <a:alphaModFix amt="50000"/>
          </a:blip>
          <a:srcRect t="7811" b="7811"/>
          <a:stretch>
            <a:fillRect/>
          </a:stretch>
        </p:blipFill>
        <p:spPr>
          <a:xfrm>
            <a:off x="-27309" y="-1306"/>
            <a:ext cx="12196260" cy="6860609"/>
          </a:xfrm>
          <a:prstGeom prst="rect">
            <a:avLst/>
          </a:prstGeom>
        </p:spPr>
      </p:pic>
      <p:sp>
        <p:nvSpPr>
          <p:cNvPr id="7" name="TextBox 6">
            <a:extLst>
              <a:ext uri="{FF2B5EF4-FFF2-40B4-BE49-F238E27FC236}">
                <a16:creationId xmlns:a16="http://schemas.microsoft.com/office/drawing/2014/main" id="{0A5BB43E-FED6-1C00-61CA-96A492853AEC}"/>
              </a:ext>
            </a:extLst>
          </p:cNvPr>
          <p:cNvSpPr txBox="1"/>
          <p:nvPr/>
        </p:nvSpPr>
        <p:spPr>
          <a:xfrm>
            <a:off x="918713" y="-1693600"/>
            <a:ext cx="530013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solidFill>
                  <a:schemeClr val="bg1"/>
                </a:solidFill>
                <a:latin typeface="Tw Cen MT"/>
              </a:rPr>
              <a:t>M</a:t>
            </a:r>
            <a:r>
              <a:rPr lang="en-US" sz="3200" b="1">
                <a:solidFill>
                  <a:schemeClr val="bg1"/>
                </a:solidFill>
                <a:latin typeface="Tw Cen MT"/>
              </a:rPr>
              <a:t>ICROWEATHER</a:t>
            </a:r>
            <a:r>
              <a:rPr lang="en-US" sz="3200" b="1">
                <a:latin typeface="Tw Cen MT"/>
              </a:rPr>
              <a:t> </a:t>
            </a:r>
            <a:r>
              <a:rPr lang="en-US" sz="9600" b="1">
                <a:solidFill>
                  <a:schemeClr val="bg1"/>
                </a:solidFill>
                <a:latin typeface="Aptos Narrow"/>
              </a:rPr>
              <a:t>D</a:t>
            </a:r>
            <a:r>
              <a:rPr lang="en-US" sz="3200" b="1">
                <a:solidFill>
                  <a:schemeClr val="bg1"/>
                </a:solidFill>
                <a:latin typeface="Tw Cen MT"/>
              </a:rPr>
              <a:t>ECK</a:t>
            </a:r>
          </a:p>
        </p:txBody>
      </p:sp>
      <p:sp>
        <p:nvSpPr>
          <p:cNvPr id="10" name="TextBox 9">
            <a:extLst>
              <a:ext uri="{FF2B5EF4-FFF2-40B4-BE49-F238E27FC236}">
                <a16:creationId xmlns:a16="http://schemas.microsoft.com/office/drawing/2014/main" id="{64A7FAF8-3C33-5C5C-14D6-CB4FDB61B4FD}"/>
              </a:ext>
            </a:extLst>
          </p:cNvPr>
          <p:cNvSpPr txBox="1"/>
          <p:nvPr/>
        </p:nvSpPr>
        <p:spPr>
          <a:xfrm>
            <a:off x="929629" y="-305706"/>
            <a:ext cx="48937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latin typeface="Tw Cen MT"/>
              </a:rPr>
              <a:t>A LOCAL WIRELESS RAIN ALERT NETWORK</a:t>
            </a:r>
          </a:p>
        </p:txBody>
      </p:sp>
      <p:sp>
        <p:nvSpPr>
          <p:cNvPr id="2" name="TextBox 1">
            <a:extLst>
              <a:ext uri="{FF2B5EF4-FFF2-40B4-BE49-F238E27FC236}">
                <a16:creationId xmlns:a16="http://schemas.microsoft.com/office/drawing/2014/main" id="{DC05834F-AC94-5AE6-2F17-5A5CAA7A1551}"/>
              </a:ext>
            </a:extLst>
          </p:cNvPr>
          <p:cNvSpPr txBox="1"/>
          <p:nvPr/>
        </p:nvSpPr>
        <p:spPr>
          <a:xfrm>
            <a:off x="296333" y="536222"/>
            <a:ext cx="455788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a:solidFill>
                  <a:schemeClr val="bg1"/>
                </a:solidFill>
                <a:latin typeface="Franklin Gothic Demi Cond"/>
              </a:rPr>
              <a:t>I</a:t>
            </a:r>
            <a:r>
              <a:rPr lang="en-US" sz="2800">
                <a:solidFill>
                  <a:schemeClr val="bg1"/>
                </a:solidFill>
                <a:latin typeface="Franklin Gothic Demi Cond"/>
              </a:rPr>
              <a:t>DEA </a:t>
            </a:r>
            <a:r>
              <a:rPr lang="en-US" sz="6000">
                <a:solidFill>
                  <a:schemeClr val="bg1"/>
                </a:solidFill>
                <a:latin typeface="Franklin Gothic Demi Cond"/>
              </a:rPr>
              <a:t> H</a:t>
            </a:r>
            <a:r>
              <a:rPr lang="en-US" sz="2400">
                <a:solidFill>
                  <a:schemeClr val="bg1"/>
                </a:solidFill>
                <a:latin typeface="Franklin Gothic Demi Cond"/>
              </a:rPr>
              <a:t>IGHLIGHTS</a:t>
            </a:r>
          </a:p>
        </p:txBody>
      </p:sp>
      <p:sp>
        <p:nvSpPr>
          <p:cNvPr id="3" name="TextBox 2">
            <a:extLst>
              <a:ext uri="{FF2B5EF4-FFF2-40B4-BE49-F238E27FC236}">
                <a16:creationId xmlns:a16="http://schemas.microsoft.com/office/drawing/2014/main" id="{B0FF3DDD-3794-6588-BB1E-67452F9B41FD}"/>
              </a:ext>
            </a:extLst>
          </p:cNvPr>
          <p:cNvSpPr txBox="1"/>
          <p:nvPr/>
        </p:nvSpPr>
        <p:spPr>
          <a:xfrm>
            <a:off x="296333" y="1368777"/>
            <a:ext cx="52634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latin typeface="Franklin Gothic Demi Cond"/>
              </a:rPr>
              <a:t>REAL LIFE PROBLEM</a:t>
            </a:r>
          </a:p>
        </p:txBody>
      </p:sp>
      <p:sp>
        <p:nvSpPr>
          <p:cNvPr id="4" name="TextBox 3">
            <a:extLst>
              <a:ext uri="{FF2B5EF4-FFF2-40B4-BE49-F238E27FC236}">
                <a16:creationId xmlns:a16="http://schemas.microsoft.com/office/drawing/2014/main" id="{A97AF145-AB3D-D0F5-78C8-30121BA19A48}"/>
              </a:ext>
            </a:extLst>
          </p:cNvPr>
          <p:cNvSpPr txBox="1"/>
          <p:nvPr/>
        </p:nvSpPr>
        <p:spPr>
          <a:xfrm>
            <a:off x="649111" y="1735666"/>
            <a:ext cx="697780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Franklin Gothic"/>
              </a:rPr>
              <a:t>Water shortage in modern world is a major </a:t>
            </a:r>
            <a:r>
              <a:rPr lang="en-US" err="1">
                <a:solidFill>
                  <a:schemeClr val="bg1"/>
                </a:solidFill>
                <a:latin typeface="Franklin Gothic"/>
              </a:rPr>
              <a:t>problem.Households</a:t>
            </a:r>
            <a:r>
              <a:rPr lang="en-US">
                <a:solidFill>
                  <a:schemeClr val="bg1"/>
                </a:solidFill>
                <a:latin typeface="Franklin Gothic"/>
              </a:rPr>
              <a:t> get their water bill and wonder how the bill costs </a:t>
            </a:r>
            <a:r>
              <a:rPr lang="en-US" err="1">
                <a:solidFill>
                  <a:schemeClr val="bg1"/>
                </a:solidFill>
                <a:latin typeface="Franklin Gothic"/>
              </a:rPr>
              <a:t>soo</a:t>
            </a:r>
            <a:r>
              <a:rPr lang="en-US">
                <a:solidFill>
                  <a:schemeClr val="bg1"/>
                </a:solidFill>
                <a:latin typeface="Franklin Gothic"/>
              </a:rPr>
              <a:t> </a:t>
            </a:r>
            <a:r>
              <a:rPr lang="en-US" err="1">
                <a:solidFill>
                  <a:schemeClr val="bg1"/>
                </a:solidFill>
                <a:latin typeface="Franklin Gothic"/>
              </a:rPr>
              <a:t>high,sometime</a:t>
            </a:r>
            <a:r>
              <a:rPr lang="en-US">
                <a:solidFill>
                  <a:schemeClr val="bg1"/>
                </a:solidFill>
                <a:latin typeface="Franklin Gothic"/>
              </a:rPr>
              <a:t> water leak </a:t>
            </a:r>
            <a:r>
              <a:rPr lang="en-US" err="1">
                <a:solidFill>
                  <a:schemeClr val="bg1"/>
                </a:solidFill>
                <a:latin typeface="Franklin Gothic"/>
              </a:rPr>
              <a:t>happens,and</a:t>
            </a:r>
            <a:r>
              <a:rPr lang="en-US">
                <a:solidFill>
                  <a:schemeClr val="bg1"/>
                </a:solidFill>
                <a:latin typeface="Franklin Gothic"/>
              </a:rPr>
              <a:t> mainly you cannot save what you cannot see</a:t>
            </a:r>
          </a:p>
          <a:p>
            <a:pPr algn="l"/>
            <a:endParaRPr lang="en-US"/>
          </a:p>
        </p:txBody>
      </p:sp>
      <p:sp>
        <p:nvSpPr>
          <p:cNvPr id="5" name="TextBox 4">
            <a:extLst>
              <a:ext uri="{FF2B5EF4-FFF2-40B4-BE49-F238E27FC236}">
                <a16:creationId xmlns:a16="http://schemas.microsoft.com/office/drawing/2014/main" id="{1904F959-4131-A03C-2556-907604EB5611}"/>
              </a:ext>
            </a:extLst>
          </p:cNvPr>
          <p:cNvSpPr txBox="1"/>
          <p:nvPr/>
        </p:nvSpPr>
        <p:spPr>
          <a:xfrm>
            <a:off x="296333" y="2751666"/>
            <a:ext cx="52634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latin typeface="Franklin Gothic Demi Cond"/>
              </a:rPr>
              <a:t>OUR PROJECTS SOLUTIOM</a:t>
            </a:r>
          </a:p>
        </p:txBody>
      </p:sp>
      <p:sp>
        <p:nvSpPr>
          <p:cNvPr id="8" name="TextBox 7">
            <a:extLst>
              <a:ext uri="{FF2B5EF4-FFF2-40B4-BE49-F238E27FC236}">
                <a16:creationId xmlns:a16="http://schemas.microsoft.com/office/drawing/2014/main" id="{B24A16AF-479A-9F38-4902-955032F18F43}"/>
              </a:ext>
            </a:extLst>
          </p:cNvPr>
          <p:cNvSpPr txBox="1"/>
          <p:nvPr/>
        </p:nvSpPr>
        <p:spPr>
          <a:xfrm>
            <a:off x="649111" y="3118555"/>
            <a:ext cx="734097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chemeClr val="bg1"/>
                </a:solidFill>
                <a:latin typeface="Franklin Gothic"/>
                <a:ea typeface="+mn-lt"/>
                <a:cs typeface="+mn-lt"/>
              </a:rPr>
              <a:t>Smartflow</a:t>
            </a:r>
            <a:r>
              <a:rPr lang="en-US">
                <a:solidFill>
                  <a:schemeClr val="bg1"/>
                </a:solidFill>
                <a:latin typeface="Franklin Gothic"/>
                <a:ea typeface="+mn-lt"/>
                <a:cs typeface="+mn-lt"/>
              </a:rPr>
              <a:t> fits a waterflow sensor at your household pipe's inlet and let you know the amount of water you've been using and do show the cost of water </a:t>
            </a:r>
            <a:r>
              <a:rPr lang="en-US" err="1">
                <a:solidFill>
                  <a:schemeClr val="bg1"/>
                </a:solidFill>
                <a:latin typeface="Franklin Gothic"/>
                <a:ea typeface="+mn-lt"/>
                <a:cs typeface="+mn-lt"/>
              </a:rPr>
              <a:t>used,also</a:t>
            </a:r>
            <a:r>
              <a:rPr lang="en-US">
                <a:solidFill>
                  <a:schemeClr val="bg1"/>
                </a:solidFill>
                <a:latin typeface="Franklin Gothic"/>
                <a:ea typeface="+mn-lt"/>
                <a:cs typeface="+mn-lt"/>
              </a:rPr>
              <a:t> detects leakage and user can see monthly weekly usage in dashboard</a:t>
            </a:r>
            <a:endParaRPr lang="en-US">
              <a:solidFill>
                <a:schemeClr val="bg1"/>
              </a:solidFill>
              <a:latin typeface="Franklin Gothic"/>
            </a:endParaRPr>
          </a:p>
          <a:p>
            <a:pPr algn="l"/>
            <a:endParaRPr lang="en-US"/>
          </a:p>
        </p:txBody>
      </p:sp>
      <p:sp>
        <p:nvSpPr>
          <p:cNvPr id="11" name="TextBox 10">
            <a:extLst>
              <a:ext uri="{FF2B5EF4-FFF2-40B4-BE49-F238E27FC236}">
                <a16:creationId xmlns:a16="http://schemas.microsoft.com/office/drawing/2014/main" id="{7BC80F76-8C36-57F0-C0D5-C4C9A47C07ED}"/>
              </a:ext>
            </a:extLst>
          </p:cNvPr>
          <p:cNvSpPr txBox="1"/>
          <p:nvPr/>
        </p:nvSpPr>
        <p:spPr>
          <a:xfrm>
            <a:off x="296333" y="4416777"/>
            <a:ext cx="52634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latin typeface="Franklin Gothic Demi Cond"/>
              </a:rPr>
              <a:t>SIMPLE WORKING IDEA</a:t>
            </a:r>
          </a:p>
        </p:txBody>
      </p:sp>
      <p:sp>
        <p:nvSpPr>
          <p:cNvPr id="12" name="TextBox 11">
            <a:extLst>
              <a:ext uri="{FF2B5EF4-FFF2-40B4-BE49-F238E27FC236}">
                <a16:creationId xmlns:a16="http://schemas.microsoft.com/office/drawing/2014/main" id="{99A28F9C-E6F3-AEE5-16F7-33960E57D071}"/>
              </a:ext>
            </a:extLst>
          </p:cNvPr>
          <p:cNvSpPr txBox="1"/>
          <p:nvPr/>
        </p:nvSpPr>
        <p:spPr>
          <a:xfrm>
            <a:off x="649111" y="4783667"/>
            <a:ext cx="781782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Franklin Gothic"/>
              </a:rPr>
              <a:t>Water flow sensor measures the volume of water household uses and saves water wastage</a:t>
            </a:r>
          </a:p>
        </p:txBody>
      </p:sp>
    </p:spTree>
    <p:extLst>
      <p:ext uri="{BB962C8B-B14F-4D97-AF65-F5344CB8AC3E}">
        <p14:creationId xmlns:p14="http://schemas.microsoft.com/office/powerpoint/2010/main" val="172913451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D46ED961-B614-BC86-9DE5-1D63E8ADDA56}"/>
            </a:ext>
          </a:extLst>
        </p:cNvPr>
        <p:cNvGrpSpPr/>
        <p:nvPr/>
      </p:nvGrpSpPr>
      <p:grpSpPr>
        <a:xfrm>
          <a:off x="0" y="0"/>
          <a:ext cx="0" cy="0"/>
          <a:chOff x="0" y="0"/>
          <a:chExt cx="0" cy="0"/>
        </a:xfrm>
      </p:grpSpPr>
      <p:sp>
        <p:nvSpPr>
          <p:cNvPr id="16" name="Oval 15">
            <a:extLst>
              <a:ext uri="{FF2B5EF4-FFF2-40B4-BE49-F238E27FC236}">
                <a16:creationId xmlns:a16="http://schemas.microsoft.com/office/drawing/2014/main" id="{CBB7E830-E1A5-E3BA-4685-2E841BEED751}"/>
              </a:ext>
            </a:extLst>
          </p:cNvPr>
          <p:cNvSpPr/>
          <p:nvPr/>
        </p:nvSpPr>
        <p:spPr>
          <a:xfrm>
            <a:off x="1975555" y="1876777"/>
            <a:ext cx="2765777" cy="23283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809D7D9-2C4C-D7EC-AE9A-DE4105297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descr="Weather Station Technology Stock Photos, Images and Backgrounds for Free  Download">
            <a:extLst>
              <a:ext uri="{FF2B5EF4-FFF2-40B4-BE49-F238E27FC236}">
                <a16:creationId xmlns:a16="http://schemas.microsoft.com/office/drawing/2014/main" id="{286DCA07-4EE6-0781-81E1-9BA1AF43BABC}"/>
              </a:ext>
            </a:extLst>
          </p:cNvPr>
          <p:cNvPicPr>
            <a:picLocks noChangeAspect="1"/>
          </p:cNvPicPr>
          <p:nvPr/>
        </p:nvPicPr>
        <p:blipFill>
          <a:blip r:embed="rId2">
            <a:alphaModFix amt="50000"/>
          </a:blip>
          <a:srcRect l="143" t="-127" r="143" b="382"/>
          <a:stretch>
            <a:fillRect/>
          </a:stretch>
        </p:blipFill>
        <p:spPr>
          <a:xfrm>
            <a:off x="-12202003" y="-1306"/>
            <a:ext cx="12196260" cy="6860609"/>
          </a:xfrm>
          <a:prstGeom prst="rect">
            <a:avLst/>
          </a:prstGeom>
        </p:spPr>
      </p:pic>
      <p:sp>
        <p:nvSpPr>
          <p:cNvPr id="7" name="TextBox 6">
            <a:extLst>
              <a:ext uri="{FF2B5EF4-FFF2-40B4-BE49-F238E27FC236}">
                <a16:creationId xmlns:a16="http://schemas.microsoft.com/office/drawing/2014/main" id="{54F96074-39BB-97D4-D476-321B1A29D37C}"/>
              </a:ext>
            </a:extLst>
          </p:cNvPr>
          <p:cNvSpPr txBox="1"/>
          <p:nvPr/>
        </p:nvSpPr>
        <p:spPr>
          <a:xfrm>
            <a:off x="918713" y="-1693600"/>
            <a:ext cx="530013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solidFill>
                  <a:schemeClr val="bg1"/>
                </a:solidFill>
                <a:latin typeface="Tw Cen MT"/>
              </a:rPr>
              <a:t>M</a:t>
            </a:r>
            <a:r>
              <a:rPr lang="en-US" sz="3200" b="1">
                <a:solidFill>
                  <a:schemeClr val="bg1"/>
                </a:solidFill>
                <a:latin typeface="Tw Cen MT"/>
              </a:rPr>
              <a:t>ICROWEATHER</a:t>
            </a:r>
            <a:r>
              <a:rPr lang="en-US" sz="3200" b="1">
                <a:latin typeface="Tw Cen MT"/>
              </a:rPr>
              <a:t> </a:t>
            </a:r>
            <a:r>
              <a:rPr lang="en-US" sz="9600" b="1">
                <a:solidFill>
                  <a:schemeClr val="bg1"/>
                </a:solidFill>
                <a:latin typeface="Aptos Narrow"/>
              </a:rPr>
              <a:t>D</a:t>
            </a:r>
            <a:r>
              <a:rPr lang="en-US" sz="3200" b="1">
                <a:solidFill>
                  <a:schemeClr val="bg1"/>
                </a:solidFill>
                <a:latin typeface="Tw Cen MT"/>
              </a:rPr>
              <a:t>ECK</a:t>
            </a:r>
          </a:p>
        </p:txBody>
      </p:sp>
      <p:sp>
        <p:nvSpPr>
          <p:cNvPr id="10" name="TextBox 9">
            <a:extLst>
              <a:ext uri="{FF2B5EF4-FFF2-40B4-BE49-F238E27FC236}">
                <a16:creationId xmlns:a16="http://schemas.microsoft.com/office/drawing/2014/main" id="{AFCC71D4-01CB-4C5B-FD15-C2E044920861}"/>
              </a:ext>
            </a:extLst>
          </p:cNvPr>
          <p:cNvSpPr txBox="1"/>
          <p:nvPr/>
        </p:nvSpPr>
        <p:spPr>
          <a:xfrm>
            <a:off x="929629" y="-305706"/>
            <a:ext cx="48937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latin typeface="Tw Cen MT"/>
              </a:rPr>
              <a:t>A LOCAL WIRELESS RAIN ALERT NETWORK</a:t>
            </a:r>
          </a:p>
        </p:txBody>
      </p:sp>
      <p:sp>
        <p:nvSpPr>
          <p:cNvPr id="2" name="TextBox 1">
            <a:extLst>
              <a:ext uri="{FF2B5EF4-FFF2-40B4-BE49-F238E27FC236}">
                <a16:creationId xmlns:a16="http://schemas.microsoft.com/office/drawing/2014/main" id="{84C2D2A1-4894-B13A-1912-045E36882676}"/>
              </a:ext>
            </a:extLst>
          </p:cNvPr>
          <p:cNvSpPr txBox="1"/>
          <p:nvPr/>
        </p:nvSpPr>
        <p:spPr>
          <a:xfrm>
            <a:off x="-12050889" y="536222"/>
            <a:ext cx="455788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a:solidFill>
                  <a:schemeClr val="bg1"/>
                </a:solidFill>
                <a:latin typeface="Franklin Gothic Demi Cond"/>
              </a:rPr>
              <a:t>I</a:t>
            </a:r>
            <a:r>
              <a:rPr lang="en-US" sz="2800">
                <a:solidFill>
                  <a:schemeClr val="bg1"/>
                </a:solidFill>
                <a:latin typeface="Franklin Gothic Demi Cond"/>
              </a:rPr>
              <a:t>DEA </a:t>
            </a:r>
            <a:r>
              <a:rPr lang="en-US" sz="6000">
                <a:solidFill>
                  <a:schemeClr val="bg1"/>
                </a:solidFill>
                <a:latin typeface="Franklin Gothic Demi Cond"/>
              </a:rPr>
              <a:t> H</a:t>
            </a:r>
            <a:r>
              <a:rPr lang="en-US" sz="2400">
                <a:solidFill>
                  <a:schemeClr val="bg1"/>
                </a:solidFill>
                <a:latin typeface="Franklin Gothic Demi Cond"/>
              </a:rPr>
              <a:t>IGHLIGHTS</a:t>
            </a:r>
          </a:p>
        </p:txBody>
      </p:sp>
      <p:sp>
        <p:nvSpPr>
          <p:cNvPr id="3" name="TextBox 2">
            <a:extLst>
              <a:ext uri="{FF2B5EF4-FFF2-40B4-BE49-F238E27FC236}">
                <a16:creationId xmlns:a16="http://schemas.microsoft.com/office/drawing/2014/main" id="{00934C31-F255-CF91-A2A6-237BAD311F5D}"/>
              </a:ext>
            </a:extLst>
          </p:cNvPr>
          <p:cNvSpPr txBox="1"/>
          <p:nvPr/>
        </p:nvSpPr>
        <p:spPr>
          <a:xfrm>
            <a:off x="-12050889" y="1368777"/>
            <a:ext cx="52634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latin typeface="Franklin Gothic Demi Cond"/>
              </a:rPr>
              <a:t>REAL LIFE PROBLEM</a:t>
            </a:r>
          </a:p>
        </p:txBody>
      </p:sp>
      <p:sp>
        <p:nvSpPr>
          <p:cNvPr id="4" name="TextBox 3">
            <a:extLst>
              <a:ext uri="{FF2B5EF4-FFF2-40B4-BE49-F238E27FC236}">
                <a16:creationId xmlns:a16="http://schemas.microsoft.com/office/drawing/2014/main" id="{3314D3FF-0D85-8A10-04E3-A4A74726B696}"/>
              </a:ext>
            </a:extLst>
          </p:cNvPr>
          <p:cNvSpPr txBox="1"/>
          <p:nvPr/>
        </p:nvSpPr>
        <p:spPr>
          <a:xfrm>
            <a:off x="-11698111" y="1735666"/>
            <a:ext cx="58419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Franklin Gothic"/>
                <a:ea typeface="+mn-lt"/>
                <a:cs typeface="+mn-lt"/>
              </a:rPr>
              <a:t>Rain can be highly local. One area may receive rain while another nearby area remains </a:t>
            </a:r>
            <a:r>
              <a:rPr lang="en-US" err="1">
                <a:solidFill>
                  <a:schemeClr val="bg1"/>
                </a:solidFill>
                <a:latin typeface="Franklin Gothic"/>
                <a:ea typeface="+mn-lt"/>
                <a:cs typeface="+mn-lt"/>
              </a:rPr>
              <a:t>dry.A</a:t>
            </a:r>
            <a:r>
              <a:rPr lang="en-US">
                <a:solidFill>
                  <a:schemeClr val="bg1"/>
                </a:solidFill>
                <a:latin typeface="Franklin Gothic"/>
                <a:ea typeface="+mn-lt"/>
                <a:cs typeface="+mn-lt"/>
              </a:rPr>
              <a:t> normal weather station only tells us the conditions at its own location.</a:t>
            </a:r>
            <a:endParaRPr lang="en-US">
              <a:solidFill>
                <a:schemeClr val="bg1"/>
              </a:solidFill>
              <a:latin typeface="Franklin Gothic"/>
            </a:endParaRPr>
          </a:p>
          <a:p>
            <a:pPr algn="l"/>
            <a:endParaRPr lang="en-US"/>
          </a:p>
        </p:txBody>
      </p:sp>
      <p:sp>
        <p:nvSpPr>
          <p:cNvPr id="5" name="TextBox 4">
            <a:extLst>
              <a:ext uri="{FF2B5EF4-FFF2-40B4-BE49-F238E27FC236}">
                <a16:creationId xmlns:a16="http://schemas.microsoft.com/office/drawing/2014/main" id="{B2A4A1F0-40A5-5256-064C-ADA0C5090FC1}"/>
              </a:ext>
            </a:extLst>
          </p:cNvPr>
          <p:cNvSpPr txBox="1"/>
          <p:nvPr/>
        </p:nvSpPr>
        <p:spPr>
          <a:xfrm>
            <a:off x="-12050889" y="2751666"/>
            <a:ext cx="52634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latin typeface="Franklin Gothic Demi Cond"/>
              </a:rPr>
              <a:t>OUR PROJECTS SOLUTIOM</a:t>
            </a:r>
          </a:p>
        </p:txBody>
      </p:sp>
      <p:sp>
        <p:nvSpPr>
          <p:cNvPr id="8" name="TextBox 7">
            <a:extLst>
              <a:ext uri="{FF2B5EF4-FFF2-40B4-BE49-F238E27FC236}">
                <a16:creationId xmlns:a16="http://schemas.microsoft.com/office/drawing/2014/main" id="{7C5972BD-2752-506E-F340-87C027AD7043}"/>
              </a:ext>
            </a:extLst>
          </p:cNvPr>
          <p:cNvSpPr txBox="1"/>
          <p:nvPr/>
        </p:nvSpPr>
        <p:spPr>
          <a:xfrm>
            <a:off x="-11698111" y="3118555"/>
            <a:ext cx="564444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chemeClr val="bg1"/>
                </a:solidFill>
                <a:latin typeface="Franklin Gothic"/>
                <a:ea typeface="+mn-lt"/>
                <a:cs typeface="+mn-lt"/>
              </a:rPr>
              <a:t>MicroWeather</a:t>
            </a:r>
            <a:r>
              <a:rPr lang="en-US">
                <a:solidFill>
                  <a:schemeClr val="bg1"/>
                </a:solidFill>
                <a:latin typeface="Franklin Gothic"/>
                <a:ea typeface="+mn-lt"/>
                <a:cs typeface="+mn-lt"/>
              </a:rPr>
              <a:t> Deck is a network of small wireless weather-sensing </a:t>
            </a:r>
            <a:r>
              <a:rPr lang="en-US" err="1">
                <a:solidFill>
                  <a:schemeClr val="bg1"/>
                </a:solidFill>
                <a:latin typeface="Franklin Gothic"/>
                <a:ea typeface="+mn-lt"/>
                <a:cs typeface="+mn-lt"/>
              </a:rPr>
              <a:t>nodes.Each</a:t>
            </a:r>
            <a:r>
              <a:rPr lang="en-US">
                <a:solidFill>
                  <a:schemeClr val="bg1"/>
                </a:solidFill>
                <a:latin typeface="Franklin Gothic"/>
                <a:ea typeface="+mn-lt"/>
                <a:cs typeface="+mn-lt"/>
              </a:rPr>
              <a:t> node monitors local weather </a:t>
            </a:r>
            <a:r>
              <a:rPr lang="en-US" err="1">
                <a:solidFill>
                  <a:schemeClr val="bg1"/>
                </a:solidFill>
                <a:latin typeface="Franklin Gothic"/>
                <a:ea typeface="+mn-lt"/>
                <a:cs typeface="+mn-lt"/>
              </a:rPr>
              <a:t>conditions.When</a:t>
            </a:r>
            <a:r>
              <a:rPr lang="en-US">
                <a:solidFill>
                  <a:schemeClr val="bg1"/>
                </a:solidFill>
                <a:latin typeface="Franklin Gothic"/>
                <a:ea typeface="+mn-lt"/>
                <a:cs typeface="+mn-lt"/>
              </a:rPr>
              <a:t> Node A detects rain, it immediately sends an alert to the Weather Deck and Node B.</a:t>
            </a:r>
            <a:endParaRPr lang="en-US">
              <a:solidFill>
                <a:schemeClr val="bg1"/>
              </a:solidFill>
              <a:latin typeface="Franklin Gothic"/>
            </a:endParaRPr>
          </a:p>
          <a:p>
            <a:pPr algn="l"/>
            <a:endParaRPr lang="en-US"/>
          </a:p>
        </p:txBody>
      </p:sp>
      <p:sp>
        <p:nvSpPr>
          <p:cNvPr id="11" name="TextBox 10">
            <a:extLst>
              <a:ext uri="{FF2B5EF4-FFF2-40B4-BE49-F238E27FC236}">
                <a16:creationId xmlns:a16="http://schemas.microsoft.com/office/drawing/2014/main" id="{63C5093D-E2E9-5D84-21DA-1287BF96AEB5}"/>
              </a:ext>
            </a:extLst>
          </p:cNvPr>
          <p:cNvSpPr txBox="1"/>
          <p:nvPr/>
        </p:nvSpPr>
        <p:spPr>
          <a:xfrm>
            <a:off x="-12050889" y="4416777"/>
            <a:ext cx="52634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latin typeface="Franklin Gothic Demi Cond"/>
              </a:rPr>
              <a:t>SIMPLE WORKING IDEA</a:t>
            </a:r>
          </a:p>
        </p:txBody>
      </p:sp>
      <p:sp>
        <p:nvSpPr>
          <p:cNvPr id="12" name="TextBox 11">
            <a:extLst>
              <a:ext uri="{FF2B5EF4-FFF2-40B4-BE49-F238E27FC236}">
                <a16:creationId xmlns:a16="http://schemas.microsoft.com/office/drawing/2014/main" id="{55A2A6AD-CB9E-8BB2-FFA2-7A24108C44EB}"/>
              </a:ext>
            </a:extLst>
          </p:cNvPr>
          <p:cNvSpPr txBox="1"/>
          <p:nvPr/>
        </p:nvSpPr>
        <p:spPr>
          <a:xfrm>
            <a:off x="-11698111" y="4783667"/>
            <a:ext cx="551744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Franklin Gothic"/>
              </a:rPr>
              <a:t>Rain at node A is sensed by ESP-32 and wireless communication alert is made to node B</a:t>
            </a:r>
            <a:endParaRPr lang="en-US">
              <a:solidFill>
                <a:schemeClr val="bg1"/>
              </a:solidFill>
            </a:endParaRPr>
          </a:p>
        </p:txBody>
      </p:sp>
      <p:sp>
        <p:nvSpPr>
          <p:cNvPr id="14" name="TextBox 13">
            <a:extLst>
              <a:ext uri="{FF2B5EF4-FFF2-40B4-BE49-F238E27FC236}">
                <a16:creationId xmlns:a16="http://schemas.microsoft.com/office/drawing/2014/main" id="{C92F2FDB-8F42-5B9E-5538-9A7422A13E3F}"/>
              </a:ext>
            </a:extLst>
          </p:cNvPr>
          <p:cNvSpPr txBox="1"/>
          <p:nvPr/>
        </p:nvSpPr>
        <p:spPr>
          <a:xfrm>
            <a:off x="242454" y="588818"/>
            <a:ext cx="715240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latin typeface="Franklin Gothic Demi Cond"/>
              </a:rPr>
              <a:t>B</a:t>
            </a:r>
            <a:r>
              <a:rPr lang="en-US" sz="2800">
                <a:latin typeface="Franklin Gothic Demi Cond"/>
              </a:rPr>
              <a:t>LOCK</a:t>
            </a:r>
            <a:r>
              <a:rPr lang="en-US" sz="5400">
                <a:latin typeface="Franklin Gothic Demi Cond"/>
              </a:rPr>
              <a:t> D</a:t>
            </a:r>
            <a:r>
              <a:rPr lang="en-US" sz="3200">
                <a:latin typeface="Franklin Gothic Demi Cond"/>
              </a:rPr>
              <a:t>IAGRAM</a:t>
            </a:r>
          </a:p>
        </p:txBody>
      </p:sp>
      <p:sp>
        <p:nvSpPr>
          <p:cNvPr id="15" name="Rectangle: Rounded Corners 14">
            <a:extLst>
              <a:ext uri="{FF2B5EF4-FFF2-40B4-BE49-F238E27FC236}">
                <a16:creationId xmlns:a16="http://schemas.microsoft.com/office/drawing/2014/main" id="{3B33D67E-52B9-23BE-58D4-670E9063A29E}"/>
              </a:ext>
            </a:extLst>
          </p:cNvPr>
          <p:cNvSpPr/>
          <p:nvPr/>
        </p:nvSpPr>
        <p:spPr>
          <a:xfrm>
            <a:off x="1919110" y="1933222"/>
            <a:ext cx="2878665" cy="2215442"/>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BF0BA8D-0442-5DF6-4998-60274031501A}"/>
              </a:ext>
            </a:extLst>
          </p:cNvPr>
          <p:cNvSpPr/>
          <p:nvPr/>
        </p:nvSpPr>
        <p:spPr>
          <a:xfrm>
            <a:off x="5644444" y="1862666"/>
            <a:ext cx="2765777" cy="23283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D743D22A-E42D-8287-E079-506339A331BF}"/>
              </a:ext>
            </a:extLst>
          </p:cNvPr>
          <p:cNvSpPr/>
          <p:nvPr/>
        </p:nvSpPr>
        <p:spPr>
          <a:xfrm>
            <a:off x="5587999" y="1919111"/>
            <a:ext cx="2878665" cy="2215442"/>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160AD19-8C88-7555-440E-BF342F18384B}"/>
              </a:ext>
            </a:extLst>
          </p:cNvPr>
          <p:cNvSpPr/>
          <p:nvPr/>
        </p:nvSpPr>
        <p:spPr>
          <a:xfrm>
            <a:off x="9228666" y="1876777"/>
            <a:ext cx="2765777" cy="23283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234700B2-6AF5-3365-6C66-5182CD3C21D3}"/>
              </a:ext>
            </a:extLst>
          </p:cNvPr>
          <p:cNvSpPr/>
          <p:nvPr/>
        </p:nvSpPr>
        <p:spPr>
          <a:xfrm>
            <a:off x="9172221" y="1919111"/>
            <a:ext cx="2878665" cy="2215442"/>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3A607235-7AF5-89B3-1A08-19F0E205CAFA}"/>
              </a:ext>
            </a:extLst>
          </p:cNvPr>
          <p:cNvCxnSpPr/>
          <p:nvPr/>
        </p:nvCxnSpPr>
        <p:spPr>
          <a:xfrm flipH="1" flipV="1">
            <a:off x="2511778" y="3273778"/>
            <a:ext cx="1608666" cy="1411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F2AE1E46-EF4E-C2F8-91F5-416219758920}"/>
              </a:ext>
            </a:extLst>
          </p:cNvPr>
          <p:cNvSpPr txBox="1"/>
          <p:nvPr/>
        </p:nvSpPr>
        <p:spPr>
          <a:xfrm>
            <a:off x="2582334" y="2836333"/>
            <a:ext cx="1481666" cy="369332"/>
          </a:xfrm>
          <a:prstGeom prst="rect">
            <a:avLst/>
          </a:prstGeom>
          <a:solidFill>
            <a:schemeClr val="accent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Water pipe</a:t>
            </a:r>
          </a:p>
        </p:txBody>
      </p:sp>
      <p:cxnSp>
        <p:nvCxnSpPr>
          <p:cNvPr id="25" name="Straight Arrow Connector 24">
            <a:extLst>
              <a:ext uri="{FF2B5EF4-FFF2-40B4-BE49-F238E27FC236}">
                <a16:creationId xmlns:a16="http://schemas.microsoft.com/office/drawing/2014/main" id="{A2709C0D-23B7-B57A-906E-93CE8C9E1499}"/>
              </a:ext>
            </a:extLst>
          </p:cNvPr>
          <p:cNvCxnSpPr>
            <a:cxnSpLocks/>
          </p:cNvCxnSpPr>
          <p:nvPr/>
        </p:nvCxnSpPr>
        <p:spPr>
          <a:xfrm flipH="1" flipV="1">
            <a:off x="6011333" y="3203222"/>
            <a:ext cx="2017888" cy="1411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914C4B1-79A8-720D-9430-11F8AC03FCEA}"/>
              </a:ext>
            </a:extLst>
          </p:cNvPr>
          <p:cNvSpPr txBox="1"/>
          <p:nvPr/>
        </p:nvSpPr>
        <p:spPr>
          <a:xfrm>
            <a:off x="5940778" y="2765776"/>
            <a:ext cx="2158997" cy="369332"/>
          </a:xfrm>
          <a:prstGeom prst="rect">
            <a:avLst/>
          </a:prstGeom>
          <a:solidFill>
            <a:schemeClr val="bg1">
              <a:lumMod val="9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err="1">
                <a:latin typeface="Aptos ExtraBold"/>
              </a:rPr>
              <a:t>Tft</a:t>
            </a:r>
            <a:r>
              <a:rPr lang="en-US" i="1">
                <a:latin typeface="Aptos ExtraBold"/>
              </a:rPr>
              <a:t> display</a:t>
            </a:r>
          </a:p>
        </p:txBody>
      </p:sp>
      <p:cxnSp>
        <p:nvCxnSpPr>
          <p:cNvPr id="27" name="Straight Arrow Connector 26">
            <a:extLst>
              <a:ext uri="{FF2B5EF4-FFF2-40B4-BE49-F238E27FC236}">
                <a16:creationId xmlns:a16="http://schemas.microsoft.com/office/drawing/2014/main" id="{633AAA9E-D5EE-D849-5C5F-C580D1381C0D}"/>
              </a:ext>
            </a:extLst>
          </p:cNvPr>
          <p:cNvCxnSpPr>
            <a:cxnSpLocks/>
          </p:cNvCxnSpPr>
          <p:nvPr/>
        </p:nvCxnSpPr>
        <p:spPr>
          <a:xfrm flipH="1" flipV="1">
            <a:off x="9807222" y="3189111"/>
            <a:ext cx="1608666" cy="1411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07B7EA62-D12B-7105-3CE3-5C210C366613}"/>
              </a:ext>
            </a:extLst>
          </p:cNvPr>
          <p:cNvSpPr txBox="1"/>
          <p:nvPr/>
        </p:nvSpPr>
        <p:spPr>
          <a:xfrm>
            <a:off x="9877778" y="2751666"/>
            <a:ext cx="1481666" cy="369332"/>
          </a:xfrm>
          <a:prstGeom prst="rect">
            <a:avLst/>
          </a:prstGeom>
          <a:solidFill>
            <a:schemeClr val="accent6">
              <a:lumMod val="40000"/>
              <a:lumOff val="60000"/>
            </a:schemeClr>
          </a:solidFill>
          <a:ln>
            <a:solidFill>
              <a:schemeClr val="accent3">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Dashboard</a:t>
            </a:r>
          </a:p>
        </p:txBody>
      </p:sp>
      <p:sp>
        <p:nvSpPr>
          <p:cNvPr id="31" name="TextBox 30">
            <a:extLst>
              <a:ext uri="{FF2B5EF4-FFF2-40B4-BE49-F238E27FC236}">
                <a16:creationId xmlns:a16="http://schemas.microsoft.com/office/drawing/2014/main" id="{49A2D47D-A81C-507E-03A2-91F2AA647B08}"/>
              </a:ext>
            </a:extLst>
          </p:cNvPr>
          <p:cNvSpPr txBox="1"/>
          <p:nvPr/>
        </p:nvSpPr>
        <p:spPr>
          <a:xfrm>
            <a:off x="2006343" y="4201262"/>
            <a:ext cx="941018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400">
                <a:latin typeface="Franklin Gothic Demi Cond"/>
              </a:rPr>
              <a:t>S</a:t>
            </a:r>
            <a:r>
              <a:rPr lang="en-US" sz="3200">
                <a:latin typeface="Franklin Gothic Demi Cond"/>
              </a:rPr>
              <a:t>imple understandable workflow of our project</a:t>
            </a:r>
            <a:endParaRPr lang="en-US"/>
          </a:p>
        </p:txBody>
      </p:sp>
    </p:spTree>
    <p:extLst>
      <p:ext uri="{BB962C8B-B14F-4D97-AF65-F5344CB8AC3E}">
        <p14:creationId xmlns:p14="http://schemas.microsoft.com/office/powerpoint/2010/main" val="1258081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D46ED961-B614-BC86-9DE5-1D63E8ADDA56}"/>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E239577A-54CA-98B3-5890-7596BC9E004F}"/>
              </a:ext>
            </a:extLst>
          </p:cNvPr>
          <p:cNvSpPr/>
          <p:nvPr/>
        </p:nvSpPr>
        <p:spPr>
          <a:xfrm rot="-16200000" flipV="1">
            <a:off x="10350633" y="3831298"/>
            <a:ext cx="563911" cy="33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C6F64DD-68E2-8A4D-08C6-BC7966EEAB43}"/>
              </a:ext>
            </a:extLst>
          </p:cNvPr>
          <p:cNvSpPr/>
          <p:nvPr/>
        </p:nvSpPr>
        <p:spPr>
          <a:xfrm rot="-16200000" flipV="1">
            <a:off x="5836143" y="3831299"/>
            <a:ext cx="563911" cy="33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A1DF6B2-CB4D-B22E-8053-9670E9290B82}"/>
              </a:ext>
            </a:extLst>
          </p:cNvPr>
          <p:cNvSpPr/>
          <p:nvPr/>
        </p:nvSpPr>
        <p:spPr>
          <a:xfrm rot="-16200000" flipV="1">
            <a:off x="1249766" y="3788168"/>
            <a:ext cx="563911" cy="33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BB7E830-E1A5-E3BA-4685-2E841BEED751}"/>
              </a:ext>
            </a:extLst>
          </p:cNvPr>
          <p:cNvSpPr/>
          <p:nvPr/>
        </p:nvSpPr>
        <p:spPr>
          <a:xfrm>
            <a:off x="164008" y="3995574"/>
            <a:ext cx="2765777" cy="2328333"/>
          </a:xfrm>
          <a:prstGeom prst="ellipse">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Weather Station Technology Stock Photos, Images and Backgrounds for Free  Download">
            <a:extLst>
              <a:ext uri="{FF2B5EF4-FFF2-40B4-BE49-F238E27FC236}">
                <a16:creationId xmlns:a16="http://schemas.microsoft.com/office/drawing/2014/main" id="{286DCA07-4EE6-0781-81E1-9BA1AF43BABC}"/>
              </a:ext>
            </a:extLst>
          </p:cNvPr>
          <p:cNvPicPr>
            <a:picLocks noChangeAspect="1"/>
          </p:cNvPicPr>
          <p:nvPr/>
        </p:nvPicPr>
        <p:blipFill>
          <a:blip r:embed="rId2">
            <a:alphaModFix amt="50000"/>
          </a:blip>
          <a:srcRect l="143" t="-127" r="143" b="382"/>
          <a:stretch>
            <a:fillRect/>
          </a:stretch>
        </p:blipFill>
        <p:spPr>
          <a:xfrm>
            <a:off x="-12202003" y="-1306"/>
            <a:ext cx="12196260" cy="6860609"/>
          </a:xfrm>
          <a:prstGeom prst="rect">
            <a:avLst/>
          </a:prstGeom>
        </p:spPr>
      </p:pic>
      <p:sp>
        <p:nvSpPr>
          <p:cNvPr id="7" name="TextBox 6">
            <a:extLst>
              <a:ext uri="{FF2B5EF4-FFF2-40B4-BE49-F238E27FC236}">
                <a16:creationId xmlns:a16="http://schemas.microsoft.com/office/drawing/2014/main" id="{54F96074-39BB-97D4-D476-321B1A29D37C}"/>
              </a:ext>
            </a:extLst>
          </p:cNvPr>
          <p:cNvSpPr txBox="1"/>
          <p:nvPr/>
        </p:nvSpPr>
        <p:spPr>
          <a:xfrm>
            <a:off x="918713" y="-1693600"/>
            <a:ext cx="530013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solidFill>
                  <a:schemeClr val="bg1"/>
                </a:solidFill>
                <a:latin typeface="Tw Cen MT"/>
              </a:rPr>
              <a:t>M</a:t>
            </a:r>
            <a:r>
              <a:rPr lang="en-US" sz="3200" b="1">
                <a:solidFill>
                  <a:schemeClr val="bg1"/>
                </a:solidFill>
                <a:latin typeface="Tw Cen MT"/>
              </a:rPr>
              <a:t>ICROWEATHER</a:t>
            </a:r>
            <a:r>
              <a:rPr lang="en-US" sz="3200" b="1">
                <a:latin typeface="Tw Cen MT"/>
              </a:rPr>
              <a:t> </a:t>
            </a:r>
            <a:r>
              <a:rPr lang="en-US" sz="9600" b="1">
                <a:solidFill>
                  <a:schemeClr val="bg1"/>
                </a:solidFill>
                <a:latin typeface="Aptos Narrow"/>
              </a:rPr>
              <a:t>D</a:t>
            </a:r>
            <a:r>
              <a:rPr lang="en-US" sz="3200" b="1">
                <a:solidFill>
                  <a:schemeClr val="bg1"/>
                </a:solidFill>
                <a:latin typeface="Tw Cen MT"/>
              </a:rPr>
              <a:t>ECK</a:t>
            </a:r>
          </a:p>
        </p:txBody>
      </p:sp>
      <p:sp>
        <p:nvSpPr>
          <p:cNvPr id="10" name="TextBox 9">
            <a:extLst>
              <a:ext uri="{FF2B5EF4-FFF2-40B4-BE49-F238E27FC236}">
                <a16:creationId xmlns:a16="http://schemas.microsoft.com/office/drawing/2014/main" id="{AFCC71D4-01CB-4C5B-FD15-C2E044920861}"/>
              </a:ext>
            </a:extLst>
          </p:cNvPr>
          <p:cNvSpPr txBox="1"/>
          <p:nvPr/>
        </p:nvSpPr>
        <p:spPr>
          <a:xfrm>
            <a:off x="929629" y="-305706"/>
            <a:ext cx="48937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latin typeface="Tw Cen MT"/>
              </a:rPr>
              <a:t>A LOCAL WIRELESS RAIN ALERT NETWORK</a:t>
            </a:r>
          </a:p>
        </p:txBody>
      </p:sp>
      <p:sp>
        <p:nvSpPr>
          <p:cNvPr id="2" name="TextBox 1">
            <a:extLst>
              <a:ext uri="{FF2B5EF4-FFF2-40B4-BE49-F238E27FC236}">
                <a16:creationId xmlns:a16="http://schemas.microsoft.com/office/drawing/2014/main" id="{84C2D2A1-4894-B13A-1912-045E36882676}"/>
              </a:ext>
            </a:extLst>
          </p:cNvPr>
          <p:cNvSpPr txBox="1"/>
          <p:nvPr/>
        </p:nvSpPr>
        <p:spPr>
          <a:xfrm>
            <a:off x="-12050889" y="536222"/>
            <a:ext cx="455788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a:solidFill>
                  <a:schemeClr val="bg1"/>
                </a:solidFill>
                <a:latin typeface="Franklin Gothic Demi Cond"/>
              </a:rPr>
              <a:t>I</a:t>
            </a:r>
            <a:r>
              <a:rPr lang="en-US" sz="2800">
                <a:solidFill>
                  <a:schemeClr val="bg1"/>
                </a:solidFill>
                <a:latin typeface="Franklin Gothic Demi Cond"/>
              </a:rPr>
              <a:t>DEA </a:t>
            </a:r>
            <a:r>
              <a:rPr lang="en-US" sz="6000">
                <a:solidFill>
                  <a:schemeClr val="bg1"/>
                </a:solidFill>
                <a:latin typeface="Franklin Gothic Demi Cond"/>
              </a:rPr>
              <a:t> H</a:t>
            </a:r>
            <a:r>
              <a:rPr lang="en-US" sz="2400">
                <a:solidFill>
                  <a:schemeClr val="bg1"/>
                </a:solidFill>
                <a:latin typeface="Franklin Gothic Demi Cond"/>
              </a:rPr>
              <a:t>IGHLIGHTS</a:t>
            </a:r>
          </a:p>
        </p:txBody>
      </p:sp>
      <p:sp>
        <p:nvSpPr>
          <p:cNvPr id="3" name="TextBox 2">
            <a:extLst>
              <a:ext uri="{FF2B5EF4-FFF2-40B4-BE49-F238E27FC236}">
                <a16:creationId xmlns:a16="http://schemas.microsoft.com/office/drawing/2014/main" id="{00934C31-F255-CF91-A2A6-237BAD311F5D}"/>
              </a:ext>
            </a:extLst>
          </p:cNvPr>
          <p:cNvSpPr txBox="1"/>
          <p:nvPr/>
        </p:nvSpPr>
        <p:spPr>
          <a:xfrm>
            <a:off x="-12050889" y="1368777"/>
            <a:ext cx="52634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latin typeface="Franklin Gothic Demi Cond"/>
              </a:rPr>
              <a:t>REAL LIFE PROBLEM</a:t>
            </a:r>
          </a:p>
        </p:txBody>
      </p:sp>
      <p:sp>
        <p:nvSpPr>
          <p:cNvPr id="4" name="TextBox 3">
            <a:extLst>
              <a:ext uri="{FF2B5EF4-FFF2-40B4-BE49-F238E27FC236}">
                <a16:creationId xmlns:a16="http://schemas.microsoft.com/office/drawing/2014/main" id="{3314D3FF-0D85-8A10-04E3-A4A74726B696}"/>
              </a:ext>
            </a:extLst>
          </p:cNvPr>
          <p:cNvSpPr txBox="1"/>
          <p:nvPr/>
        </p:nvSpPr>
        <p:spPr>
          <a:xfrm>
            <a:off x="-11698111" y="1735666"/>
            <a:ext cx="58419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Franklin Gothic"/>
                <a:ea typeface="+mn-lt"/>
                <a:cs typeface="+mn-lt"/>
              </a:rPr>
              <a:t>Rain can be highly local. One area may receive rain while another nearby area remains </a:t>
            </a:r>
            <a:r>
              <a:rPr lang="en-US" err="1">
                <a:solidFill>
                  <a:schemeClr val="bg1"/>
                </a:solidFill>
                <a:latin typeface="Franklin Gothic"/>
                <a:ea typeface="+mn-lt"/>
                <a:cs typeface="+mn-lt"/>
              </a:rPr>
              <a:t>dry.A</a:t>
            </a:r>
            <a:r>
              <a:rPr lang="en-US">
                <a:solidFill>
                  <a:schemeClr val="bg1"/>
                </a:solidFill>
                <a:latin typeface="Franklin Gothic"/>
                <a:ea typeface="+mn-lt"/>
                <a:cs typeface="+mn-lt"/>
              </a:rPr>
              <a:t> normal weather station only tells us the conditions at its own location.</a:t>
            </a:r>
            <a:endParaRPr lang="en-US">
              <a:solidFill>
                <a:schemeClr val="bg1"/>
              </a:solidFill>
              <a:latin typeface="Franklin Gothic"/>
            </a:endParaRPr>
          </a:p>
          <a:p>
            <a:pPr algn="l"/>
            <a:endParaRPr lang="en-US"/>
          </a:p>
        </p:txBody>
      </p:sp>
      <p:sp>
        <p:nvSpPr>
          <p:cNvPr id="5" name="TextBox 4">
            <a:extLst>
              <a:ext uri="{FF2B5EF4-FFF2-40B4-BE49-F238E27FC236}">
                <a16:creationId xmlns:a16="http://schemas.microsoft.com/office/drawing/2014/main" id="{B2A4A1F0-40A5-5256-064C-ADA0C5090FC1}"/>
              </a:ext>
            </a:extLst>
          </p:cNvPr>
          <p:cNvSpPr txBox="1"/>
          <p:nvPr/>
        </p:nvSpPr>
        <p:spPr>
          <a:xfrm>
            <a:off x="-12050889" y="2751666"/>
            <a:ext cx="52634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latin typeface="Franklin Gothic Demi Cond"/>
              </a:rPr>
              <a:t>OUR PROJECTS SOLUTIOM</a:t>
            </a:r>
          </a:p>
        </p:txBody>
      </p:sp>
      <p:sp>
        <p:nvSpPr>
          <p:cNvPr id="8" name="TextBox 7">
            <a:extLst>
              <a:ext uri="{FF2B5EF4-FFF2-40B4-BE49-F238E27FC236}">
                <a16:creationId xmlns:a16="http://schemas.microsoft.com/office/drawing/2014/main" id="{7C5972BD-2752-506E-F340-87C027AD7043}"/>
              </a:ext>
            </a:extLst>
          </p:cNvPr>
          <p:cNvSpPr txBox="1"/>
          <p:nvPr/>
        </p:nvSpPr>
        <p:spPr>
          <a:xfrm>
            <a:off x="-11698111" y="3118555"/>
            <a:ext cx="564444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chemeClr val="bg1"/>
                </a:solidFill>
                <a:latin typeface="Franklin Gothic"/>
                <a:ea typeface="+mn-lt"/>
                <a:cs typeface="+mn-lt"/>
              </a:rPr>
              <a:t>MicroWeather</a:t>
            </a:r>
            <a:r>
              <a:rPr lang="en-US">
                <a:solidFill>
                  <a:schemeClr val="bg1"/>
                </a:solidFill>
                <a:latin typeface="Franklin Gothic"/>
                <a:ea typeface="+mn-lt"/>
                <a:cs typeface="+mn-lt"/>
              </a:rPr>
              <a:t> Deck is a network of small wireless weather-sensing </a:t>
            </a:r>
            <a:r>
              <a:rPr lang="en-US" err="1">
                <a:solidFill>
                  <a:schemeClr val="bg1"/>
                </a:solidFill>
                <a:latin typeface="Franklin Gothic"/>
                <a:ea typeface="+mn-lt"/>
                <a:cs typeface="+mn-lt"/>
              </a:rPr>
              <a:t>nodes.Each</a:t>
            </a:r>
            <a:r>
              <a:rPr lang="en-US">
                <a:solidFill>
                  <a:schemeClr val="bg1"/>
                </a:solidFill>
                <a:latin typeface="Franklin Gothic"/>
                <a:ea typeface="+mn-lt"/>
                <a:cs typeface="+mn-lt"/>
              </a:rPr>
              <a:t> node monitors local weather </a:t>
            </a:r>
            <a:r>
              <a:rPr lang="en-US" err="1">
                <a:solidFill>
                  <a:schemeClr val="bg1"/>
                </a:solidFill>
                <a:latin typeface="Franklin Gothic"/>
                <a:ea typeface="+mn-lt"/>
                <a:cs typeface="+mn-lt"/>
              </a:rPr>
              <a:t>conditions.When</a:t>
            </a:r>
            <a:r>
              <a:rPr lang="en-US">
                <a:solidFill>
                  <a:schemeClr val="bg1"/>
                </a:solidFill>
                <a:latin typeface="Franklin Gothic"/>
                <a:ea typeface="+mn-lt"/>
                <a:cs typeface="+mn-lt"/>
              </a:rPr>
              <a:t> Node A detects rain, it immediately sends an alert to the Weather Deck and Node B.</a:t>
            </a:r>
            <a:endParaRPr lang="en-US">
              <a:solidFill>
                <a:schemeClr val="bg1"/>
              </a:solidFill>
              <a:latin typeface="Franklin Gothic"/>
            </a:endParaRPr>
          </a:p>
          <a:p>
            <a:pPr algn="l"/>
            <a:endParaRPr lang="en-US"/>
          </a:p>
        </p:txBody>
      </p:sp>
      <p:sp>
        <p:nvSpPr>
          <p:cNvPr id="11" name="TextBox 10">
            <a:extLst>
              <a:ext uri="{FF2B5EF4-FFF2-40B4-BE49-F238E27FC236}">
                <a16:creationId xmlns:a16="http://schemas.microsoft.com/office/drawing/2014/main" id="{63C5093D-E2E9-5D84-21DA-1287BF96AEB5}"/>
              </a:ext>
            </a:extLst>
          </p:cNvPr>
          <p:cNvSpPr txBox="1"/>
          <p:nvPr/>
        </p:nvSpPr>
        <p:spPr>
          <a:xfrm>
            <a:off x="-12050889" y="4416777"/>
            <a:ext cx="52634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latin typeface="Franklin Gothic Demi Cond"/>
              </a:rPr>
              <a:t>SIMPLE WORKING IDEA</a:t>
            </a:r>
          </a:p>
        </p:txBody>
      </p:sp>
      <p:sp>
        <p:nvSpPr>
          <p:cNvPr id="12" name="TextBox 11">
            <a:extLst>
              <a:ext uri="{FF2B5EF4-FFF2-40B4-BE49-F238E27FC236}">
                <a16:creationId xmlns:a16="http://schemas.microsoft.com/office/drawing/2014/main" id="{55A2A6AD-CB9E-8BB2-FFA2-7A24108C44EB}"/>
              </a:ext>
            </a:extLst>
          </p:cNvPr>
          <p:cNvSpPr txBox="1"/>
          <p:nvPr/>
        </p:nvSpPr>
        <p:spPr>
          <a:xfrm>
            <a:off x="-11698111" y="4783667"/>
            <a:ext cx="551744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Franklin Gothic"/>
              </a:rPr>
              <a:t>Rain at node A is sensed by ESP-32 and wireless communication alert is made to node B</a:t>
            </a:r>
            <a:endParaRPr lang="en-US">
              <a:solidFill>
                <a:schemeClr val="bg1"/>
              </a:solidFill>
            </a:endParaRPr>
          </a:p>
        </p:txBody>
      </p:sp>
      <p:sp>
        <p:nvSpPr>
          <p:cNvPr id="14" name="TextBox 13">
            <a:extLst>
              <a:ext uri="{FF2B5EF4-FFF2-40B4-BE49-F238E27FC236}">
                <a16:creationId xmlns:a16="http://schemas.microsoft.com/office/drawing/2014/main" id="{C92F2FDB-8F42-5B9E-5538-9A7422A13E3F}"/>
              </a:ext>
            </a:extLst>
          </p:cNvPr>
          <p:cNvSpPr txBox="1"/>
          <p:nvPr/>
        </p:nvSpPr>
        <p:spPr>
          <a:xfrm>
            <a:off x="299963" y="-1697182"/>
            <a:ext cx="715240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latin typeface="Franklin Gothic Demi Cond"/>
              </a:rPr>
              <a:t>B</a:t>
            </a:r>
            <a:r>
              <a:rPr lang="en-US" sz="2800">
                <a:latin typeface="Franklin Gothic Demi Cond"/>
              </a:rPr>
              <a:t>LOCK</a:t>
            </a:r>
            <a:r>
              <a:rPr lang="en-US" sz="5400">
                <a:latin typeface="Franklin Gothic Demi Cond"/>
              </a:rPr>
              <a:t> D</a:t>
            </a:r>
            <a:r>
              <a:rPr lang="en-US" sz="3200">
                <a:latin typeface="Franklin Gothic Demi Cond"/>
              </a:rPr>
              <a:t>IAGRAM</a:t>
            </a:r>
          </a:p>
        </p:txBody>
      </p:sp>
      <p:sp>
        <p:nvSpPr>
          <p:cNvPr id="15" name="Rectangle: Rounded Corners 14">
            <a:extLst>
              <a:ext uri="{FF2B5EF4-FFF2-40B4-BE49-F238E27FC236}">
                <a16:creationId xmlns:a16="http://schemas.microsoft.com/office/drawing/2014/main" id="{3B33D67E-52B9-23BE-58D4-670E9063A29E}"/>
              </a:ext>
            </a:extLst>
          </p:cNvPr>
          <p:cNvSpPr/>
          <p:nvPr/>
        </p:nvSpPr>
        <p:spPr>
          <a:xfrm>
            <a:off x="165072" y="1464094"/>
            <a:ext cx="2878665" cy="2215442"/>
          </a:xfrm>
          <a:prstGeom prst="round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BF0BA8D-0442-5DF6-4998-60274031501A}"/>
              </a:ext>
            </a:extLst>
          </p:cNvPr>
          <p:cNvSpPr/>
          <p:nvPr/>
        </p:nvSpPr>
        <p:spPr>
          <a:xfrm>
            <a:off x="4709916" y="4038173"/>
            <a:ext cx="2765777" cy="2328333"/>
          </a:xfrm>
          <a:prstGeom prst="ellipse">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D743D22A-E42D-8287-E079-506339A331BF}"/>
              </a:ext>
            </a:extLst>
          </p:cNvPr>
          <p:cNvSpPr/>
          <p:nvPr/>
        </p:nvSpPr>
        <p:spPr>
          <a:xfrm>
            <a:off x="4653471" y="1435606"/>
            <a:ext cx="2878665" cy="2215442"/>
          </a:xfrm>
          <a:prstGeom prst="round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160AD19-8C88-7555-440E-BF342F18384B}"/>
              </a:ext>
            </a:extLst>
          </p:cNvPr>
          <p:cNvSpPr/>
          <p:nvPr/>
        </p:nvSpPr>
        <p:spPr>
          <a:xfrm>
            <a:off x="9228666" y="3995574"/>
            <a:ext cx="2765777" cy="2328333"/>
          </a:xfrm>
          <a:prstGeom prst="ellipse">
            <a:avLst/>
          </a:prstGeom>
          <a:solidFill>
            <a:schemeClr val="accent3">
              <a:lumMod val="40000"/>
              <a:lumOff val="60000"/>
            </a:schemeClr>
          </a:solid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234700B2-6AF5-3365-6C66-5182CD3C21D3}"/>
              </a:ext>
            </a:extLst>
          </p:cNvPr>
          <p:cNvSpPr/>
          <p:nvPr/>
        </p:nvSpPr>
        <p:spPr>
          <a:xfrm>
            <a:off x="9186598" y="1464360"/>
            <a:ext cx="2878665" cy="2215442"/>
          </a:xfrm>
          <a:prstGeom prst="roundRect">
            <a:avLst/>
          </a:prstGeom>
          <a:solidFill>
            <a:schemeClr val="accent3">
              <a:lumMod val="40000"/>
              <a:lumOff val="60000"/>
            </a:schemeClr>
          </a:solid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3A607235-7AF5-89B3-1A08-19F0E205CAFA}"/>
              </a:ext>
            </a:extLst>
          </p:cNvPr>
          <p:cNvCxnSpPr/>
          <p:nvPr/>
        </p:nvCxnSpPr>
        <p:spPr>
          <a:xfrm flipH="1" flipV="1">
            <a:off x="3043740" y="2646499"/>
            <a:ext cx="1608666" cy="1411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F2AE1E46-EF4E-C2F8-91F5-416219758920}"/>
              </a:ext>
            </a:extLst>
          </p:cNvPr>
          <p:cNvSpPr txBox="1"/>
          <p:nvPr/>
        </p:nvSpPr>
        <p:spPr>
          <a:xfrm>
            <a:off x="770787" y="900715"/>
            <a:ext cx="1481666" cy="369332"/>
          </a:xfrm>
          <a:prstGeom prst="rect">
            <a:avLst/>
          </a:prstGeom>
          <a:solidFill>
            <a:schemeClr val="accent2">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Water pipe</a:t>
            </a:r>
          </a:p>
        </p:txBody>
      </p:sp>
      <p:cxnSp>
        <p:nvCxnSpPr>
          <p:cNvPr id="25" name="Straight Arrow Connector 24">
            <a:extLst>
              <a:ext uri="{FF2B5EF4-FFF2-40B4-BE49-F238E27FC236}">
                <a16:creationId xmlns:a16="http://schemas.microsoft.com/office/drawing/2014/main" id="{A2709C0D-23B7-B57A-906E-93CE8C9E1499}"/>
              </a:ext>
            </a:extLst>
          </p:cNvPr>
          <p:cNvCxnSpPr>
            <a:cxnSpLocks/>
          </p:cNvCxnSpPr>
          <p:nvPr/>
        </p:nvCxnSpPr>
        <p:spPr>
          <a:xfrm flipH="1" flipV="1">
            <a:off x="7535332" y="2647830"/>
            <a:ext cx="1658455" cy="1411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914C4B1-79A8-720D-9430-11F8AC03FCEA}"/>
              </a:ext>
            </a:extLst>
          </p:cNvPr>
          <p:cNvSpPr txBox="1"/>
          <p:nvPr/>
        </p:nvSpPr>
        <p:spPr>
          <a:xfrm>
            <a:off x="5006250" y="902045"/>
            <a:ext cx="2158997" cy="369332"/>
          </a:xfrm>
          <a:prstGeom prst="rect">
            <a:avLst/>
          </a:prstGeom>
          <a:solidFill>
            <a:schemeClr val="bg1">
              <a:lumMod val="9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TFT display</a:t>
            </a:r>
          </a:p>
        </p:txBody>
      </p:sp>
      <p:sp>
        <p:nvSpPr>
          <p:cNvPr id="28" name="TextBox 27">
            <a:extLst>
              <a:ext uri="{FF2B5EF4-FFF2-40B4-BE49-F238E27FC236}">
                <a16:creationId xmlns:a16="http://schemas.microsoft.com/office/drawing/2014/main" id="{07B7EA62-D12B-7105-3CE3-5C210C366613}"/>
              </a:ext>
            </a:extLst>
          </p:cNvPr>
          <p:cNvSpPr txBox="1"/>
          <p:nvPr/>
        </p:nvSpPr>
        <p:spPr>
          <a:xfrm>
            <a:off x="9863401" y="902312"/>
            <a:ext cx="1481666" cy="369332"/>
          </a:xfrm>
          <a:prstGeom prst="rect">
            <a:avLst/>
          </a:prstGeom>
          <a:solidFill>
            <a:schemeClr val="accent3">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Node B</a:t>
            </a:r>
          </a:p>
        </p:txBody>
      </p:sp>
      <p:sp>
        <p:nvSpPr>
          <p:cNvPr id="31" name="TextBox 30">
            <a:extLst>
              <a:ext uri="{FF2B5EF4-FFF2-40B4-BE49-F238E27FC236}">
                <a16:creationId xmlns:a16="http://schemas.microsoft.com/office/drawing/2014/main" id="{49A2D47D-A81C-507E-03A2-91F2AA647B08}"/>
              </a:ext>
            </a:extLst>
          </p:cNvPr>
          <p:cNvSpPr txBox="1"/>
          <p:nvPr/>
        </p:nvSpPr>
        <p:spPr>
          <a:xfrm>
            <a:off x="2135739" y="6861073"/>
            <a:ext cx="941018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400">
                <a:latin typeface="Franklin Gothic Demi Cond"/>
              </a:rPr>
              <a:t>S</a:t>
            </a:r>
            <a:r>
              <a:rPr lang="en-US" sz="3200">
                <a:latin typeface="Franklin Gothic Demi Cond"/>
              </a:rPr>
              <a:t>imple understandable workflow of our project</a:t>
            </a:r>
            <a:endParaRPr lang="en-US"/>
          </a:p>
        </p:txBody>
      </p:sp>
      <p:sp>
        <p:nvSpPr>
          <p:cNvPr id="29" name="TextBox 28">
            <a:extLst>
              <a:ext uri="{FF2B5EF4-FFF2-40B4-BE49-F238E27FC236}">
                <a16:creationId xmlns:a16="http://schemas.microsoft.com/office/drawing/2014/main" id="{8D52848D-BAA4-574B-8717-4A1E51A2ACEB}"/>
              </a:ext>
            </a:extLst>
          </p:cNvPr>
          <p:cNvSpPr txBox="1"/>
          <p:nvPr/>
        </p:nvSpPr>
        <p:spPr>
          <a:xfrm>
            <a:off x="461570" y="1949609"/>
            <a:ext cx="227598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Franklin Gothic Demi"/>
              </a:rPr>
              <a:t>Water flow sensor YF-S201 is mounted on water pipe inlet </a:t>
            </a:r>
          </a:p>
        </p:txBody>
      </p:sp>
      <p:sp>
        <p:nvSpPr>
          <p:cNvPr id="27" name="TextBox 26">
            <a:extLst>
              <a:ext uri="{FF2B5EF4-FFF2-40B4-BE49-F238E27FC236}">
                <a16:creationId xmlns:a16="http://schemas.microsoft.com/office/drawing/2014/main" id="{EED1A9B2-B356-C815-7D4C-97A09BDA4516}"/>
              </a:ext>
            </a:extLst>
          </p:cNvPr>
          <p:cNvSpPr txBox="1"/>
          <p:nvPr/>
        </p:nvSpPr>
        <p:spPr>
          <a:xfrm>
            <a:off x="550332" y="4459111"/>
            <a:ext cx="204611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Aptos SemiBold"/>
              </a:rPr>
              <a:t>This sensor measure water flow/min and give output to ESP32 in pulse form</a:t>
            </a:r>
          </a:p>
        </p:txBody>
      </p:sp>
      <p:sp>
        <p:nvSpPr>
          <p:cNvPr id="33" name="TextBox 32">
            <a:extLst>
              <a:ext uri="{FF2B5EF4-FFF2-40B4-BE49-F238E27FC236}">
                <a16:creationId xmlns:a16="http://schemas.microsoft.com/office/drawing/2014/main" id="{3B4B63BA-3E2B-A6D4-9C80-FD0DB1CE4144}"/>
              </a:ext>
            </a:extLst>
          </p:cNvPr>
          <p:cNvSpPr txBox="1"/>
          <p:nvPr/>
        </p:nvSpPr>
        <p:spPr>
          <a:xfrm>
            <a:off x="5005347" y="1949609"/>
            <a:ext cx="233242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Franklin Gothic Demi"/>
              </a:rPr>
              <a:t>ESP32 converts pulse to </a:t>
            </a:r>
            <a:r>
              <a:rPr lang="en-US" i="1" err="1">
                <a:latin typeface="Franklin Gothic Demi"/>
              </a:rPr>
              <a:t>litres</a:t>
            </a:r>
            <a:r>
              <a:rPr lang="en-US" i="1">
                <a:latin typeface="Franklin Gothic Demi"/>
              </a:rPr>
              <a:t> also notices any leak occurs</a:t>
            </a:r>
          </a:p>
        </p:txBody>
      </p:sp>
      <p:sp>
        <p:nvSpPr>
          <p:cNvPr id="35" name="TextBox 34">
            <a:extLst>
              <a:ext uri="{FF2B5EF4-FFF2-40B4-BE49-F238E27FC236}">
                <a16:creationId xmlns:a16="http://schemas.microsoft.com/office/drawing/2014/main" id="{DBE5D5D3-3FEF-0240-D2CE-6655A63F1BC1}"/>
              </a:ext>
            </a:extLst>
          </p:cNvPr>
          <p:cNvSpPr txBox="1"/>
          <p:nvPr/>
        </p:nvSpPr>
        <p:spPr>
          <a:xfrm>
            <a:off x="5291665" y="4459111"/>
            <a:ext cx="204611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Aptos SemiBold"/>
              </a:rPr>
              <a:t>This ESP32 is brain of this project it feeds information to dashboard</a:t>
            </a:r>
          </a:p>
        </p:txBody>
      </p:sp>
      <p:sp>
        <p:nvSpPr>
          <p:cNvPr id="36" name="TextBox 35">
            <a:extLst>
              <a:ext uri="{FF2B5EF4-FFF2-40B4-BE49-F238E27FC236}">
                <a16:creationId xmlns:a16="http://schemas.microsoft.com/office/drawing/2014/main" id="{62196680-C966-6172-C8F2-64F3D29E5AF3}"/>
              </a:ext>
            </a:extLst>
          </p:cNvPr>
          <p:cNvSpPr txBox="1"/>
          <p:nvPr/>
        </p:nvSpPr>
        <p:spPr>
          <a:xfrm>
            <a:off x="9492681" y="1977831"/>
            <a:ext cx="227598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Franklin Gothic Demi"/>
              </a:rPr>
              <a:t>Dashboard shows usage of water by </a:t>
            </a:r>
            <a:r>
              <a:rPr lang="en-US" i="1" err="1">
                <a:latin typeface="Franklin Gothic Demi"/>
              </a:rPr>
              <a:t>monthly,weekly</a:t>
            </a:r>
            <a:r>
              <a:rPr lang="en-US" i="1">
                <a:latin typeface="Franklin Gothic Demi"/>
              </a:rPr>
              <a:t> or daily basis</a:t>
            </a:r>
          </a:p>
        </p:txBody>
      </p:sp>
      <p:sp>
        <p:nvSpPr>
          <p:cNvPr id="37" name="TextBox 36">
            <a:extLst>
              <a:ext uri="{FF2B5EF4-FFF2-40B4-BE49-F238E27FC236}">
                <a16:creationId xmlns:a16="http://schemas.microsoft.com/office/drawing/2014/main" id="{487AD535-E8B1-7818-1D37-26095CCDADF9}"/>
              </a:ext>
            </a:extLst>
          </p:cNvPr>
          <p:cNvSpPr txBox="1"/>
          <p:nvPr/>
        </p:nvSpPr>
        <p:spPr>
          <a:xfrm>
            <a:off x="9496777" y="4459111"/>
            <a:ext cx="252588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Aptos SemiBold"/>
              </a:rPr>
              <a:t>Sole purpose of user understanding the benefit of this product and make plan to save water</a:t>
            </a:r>
          </a:p>
        </p:txBody>
      </p:sp>
    </p:spTree>
    <p:extLst>
      <p:ext uri="{BB962C8B-B14F-4D97-AF65-F5344CB8AC3E}">
        <p14:creationId xmlns:p14="http://schemas.microsoft.com/office/powerpoint/2010/main" val="12697284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9A99726-C532-FCAD-244F-5887FCA74FEF}"/>
              </a:ext>
            </a:extLst>
          </p:cNvPr>
          <p:cNvSpPr txBox="1"/>
          <p:nvPr/>
        </p:nvSpPr>
        <p:spPr>
          <a:xfrm>
            <a:off x="3052162" y="128464"/>
            <a:ext cx="3018591" cy="369332"/>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FC-37 RAIN DETECTION MODULE</a:t>
            </a:r>
          </a:p>
        </p:txBody>
      </p:sp>
      <p:sp>
        <p:nvSpPr>
          <p:cNvPr id="9" name="TextBox 8">
            <a:extLst>
              <a:ext uri="{FF2B5EF4-FFF2-40B4-BE49-F238E27FC236}">
                <a16:creationId xmlns:a16="http://schemas.microsoft.com/office/drawing/2014/main" id="{FE85FFF5-7CFA-3C25-53DD-8D271B90E38B}"/>
              </a:ext>
            </a:extLst>
          </p:cNvPr>
          <p:cNvSpPr txBox="1"/>
          <p:nvPr/>
        </p:nvSpPr>
        <p:spPr>
          <a:xfrm>
            <a:off x="3052162" y="128464"/>
            <a:ext cx="3018591" cy="369332"/>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DHT22(AM2302)</a:t>
            </a:r>
          </a:p>
        </p:txBody>
      </p:sp>
      <p:sp>
        <p:nvSpPr>
          <p:cNvPr id="7" name="TextBox 6">
            <a:extLst>
              <a:ext uri="{FF2B5EF4-FFF2-40B4-BE49-F238E27FC236}">
                <a16:creationId xmlns:a16="http://schemas.microsoft.com/office/drawing/2014/main" id="{1C54B830-8CC0-499E-CC89-E635041CAE28}"/>
              </a:ext>
            </a:extLst>
          </p:cNvPr>
          <p:cNvSpPr txBox="1"/>
          <p:nvPr/>
        </p:nvSpPr>
        <p:spPr>
          <a:xfrm>
            <a:off x="3052162" y="128464"/>
            <a:ext cx="3018591" cy="369332"/>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ESP32 A</a:t>
            </a:r>
          </a:p>
        </p:txBody>
      </p:sp>
      <p:sp>
        <p:nvSpPr>
          <p:cNvPr id="10" name="TextBox 9">
            <a:extLst>
              <a:ext uri="{FF2B5EF4-FFF2-40B4-BE49-F238E27FC236}">
                <a16:creationId xmlns:a16="http://schemas.microsoft.com/office/drawing/2014/main" id="{B413075E-52C8-55EF-0103-D031066AEB1A}"/>
              </a:ext>
            </a:extLst>
          </p:cNvPr>
          <p:cNvSpPr txBox="1"/>
          <p:nvPr/>
        </p:nvSpPr>
        <p:spPr>
          <a:xfrm>
            <a:off x="3052162" y="128465"/>
            <a:ext cx="3018591" cy="369332"/>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GSM MODULE SIM800L</a:t>
            </a:r>
            <a:endParaRPr lang="en-US"/>
          </a:p>
        </p:txBody>
      </p:sp>
      <p:sp>
        <p:nvSpPr>
          <p:cNvPr id="11" name="TextBox 10">
            <a:extLst>
              <a:ext uri="{FF2B5EF4-FFF2-40B4-BE49-F238E27FC236}">
                <a16:creationId xmlns:a16="http://schemas.microsoft.com/office/drawing/2014/main" id="{FB4D6954-1E82-4338-A084-6554A626317C}"/>
              </a:ext>
            </a:extLst>
          </p:cNvPr>
          <p:cNvSpPr txBox="1"/>
          <p:nvPr/>
        </p:nvSpPr>
        <p:spPr>
          <a:xfrm>
            <a:off x="3052163" y="128464"/>
            <a:ext cx="3018591" cy="369332"/>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TFT SCREEN</a:t>
            </a:r>
          </a:p>
        </p:txBody>
      </p:sp>
      <p:sp>
        <p:nvSpPr>
          <p:cNvPr id="5" name="TextBox 4">
            <a:extLst>
              <a:ext uri="{FF2B5EF4-FFF2-40B4-BE49-F238E27FC236}">
                <a16:creationId xmlns:a16="http://schemas.microsoft.com/office/drawing/2014/main" id="{67CFDDE3-DC3B-3655-739B-7428949A1A0C}"/>
              </a:ext>
            </a:extLst>
          </p:cNvPr>
          <p:cNvSpPr txBox="1"/>
          <p:nvPr/>
        </p:nvSpPr>
        <p:spPr>
          <a:xfrm>
            <a:off x="3077723" y="125802"/>
            <a:ext cx="3018591" cy="369332"/>
          </a:xfrm>
          <a:prstGeom prst="rect">
            <a:avLst/>
          </a:prstGeom>
          <a:solidFill>
            <a:srgbClr val="32323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solidFill>
                  <a:schemeClr val="bg1"/>
                </a:solidFill>
                <a:latin typeface="Franklin Gothic Demi"/>
              </a:rPr>
              <a:t>COMMUNICATION</a:t>
            </a:r>
          </a:p>
        </p:txBody>
      </p:sp>
      <p:pic>
        <p:nvPicPr>
          <p:cNvPr id="12" name="Picture 11" descr="Software Animated Icon | Free computer Animated Icon">
            <a:extLst>
              <a:ext uri="{FF2B5EF4-FFF2-40B4-BE49-F238E27FC236}">
                <a16:creationId xmlns:a16="http://schemas.microsoft.com/office/drawing/2014/main" id="{FADDC0AB-5B66-01BE-9FB8-FF4ABCC7CA68}"/>
              </a:ext>
            </a:extLst>
          </p:cNvPr>
          <p:cNvPicPr>
            <a:picLocks noChangeAspect="1"/>
          </p:cNvPicPr>
          <p:nvPr/>
        </p:nvPicPr>
        <p:blipFill>
          <a:blip r:embed="rId2"/>
          <a:stretch>
            <a:fillRect/>
          </a:stretch>
        </p:blipFill>
        <p:spPr>
          <a:xfrm>
            <a:off x="183444" y="2257778"/>
            <a:ext cx="2652889" cy="2737556"/>
          </a:xfrm>
          <a:prstGeom prst="rect">
            <a:avLst/>
          </a:prstGeom>
        </p:spPr>
      </p:pic>
      <p:pic>
        <p:nvPicPr>
          <p:cNvPr id="16" name="Picture 15" descr="Circuit board Animated Icon | Free technology Animated Icon">
            <a:extLst>
              <a:ext uri="{FF2B5EF4-FFF2-40B4-BE49-F238E27FC236}">
                <a16:creationId xmlns:a16="http://schemas.microsoft.com/office/drawing/2014/main" id="{B5EE3EE0-C97F-09B6-94A0-B73BF6E5F23F}"/>
              </a:ext>
            </a:extLst>
          </p:cNvPr>
          <p:cNvPicPr>
            <a:picLocks noChangeAspect="1"/>
          </p:cNvPicPr>
          <p:nvPr/>
        </p:nvPicPr>
        <p:blipFill>
          <a:blip r:embed="rId3"/>
          <a:stretch>
            <a:fillRect/>
          </a:stretch>
        </p:blipFill>
        <p:spPr>
          <a:xfrm>
            <a:off x="22578" y="-259644"/>
            <a:ext cx="2819399" cy="2748844"/>
          </a:xfrm>
          <a:prstGeom prst="rect">
            <a:avLst/>
          </a:prstGeom>
        </p:spPr>
      </p:pic>
      <p:sp>
        <p:nvSpPr>
          <p:cNvPr id="19" name="TextBox 18">
            <a:extLst>
              <a:ext uri="{FF2B5EF4-FFF2-40B4-BE49-F238E27FC236}">
                <a16:creationId xmlns:a16="http://schemas.microsoft.com/office/drawing/2014/main" id="{5E93981F-BC66-9F07-CEFC-510433761E85}"/>
              </a:ext>
            </a:extLst>
          </p:cNvPr>
          <p:cNvSpPr txBox="1"/>
          <p:nvPr/>
        </p:nvSpPr>
        <p:spPr>
          <a:xfrm>
            <a:off x="3080384" y="2809575"/>
            <a:ext cx="3018591" cy="369332"/>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AURDINO IDE</a:t>
            </a:r>
          </a:p>
        </p:txBody>
      </p:sp>
      <p:sp>
        <p:nvSpPr>
          <p:cNvPr id="20" name="TextBox 19">
            <a:extLst>
              <a:ext uri="{FF2B5EF4-FFF2-40B4-BE49-F238E27FC236}">
                <a16:creationId xmlns:a16="http://schemas.microsoft.com/office/drawing/2014/main" id="{B6C9D810-9EB6-B957-C8F6-094114594363}"/>
              </a:ext>
            </a:extLst>
          </p:cNvPr>
          <p:cNvSpPr txBox="1"/>
          <p:nvPr/>
        </p:nvSpPr>
        <p:spPr>
          <a:xfrm>
            <a:off x="3052162" y="2809576"/>
            <a:ext cx="3018591" cy="369332"/>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PYTHON PROGRAMMNING</a:t>
            </a:r>
          </a:p>
        </p:txBody>
      </p:sp>
      <p:sp>
        <p:nvSpPr>
          <p:cNvPr id="21" name="TextBox 20">
            <a:extLst>
              <a:ext uri="{FF2B5EF4-FFF2-40B4-BE49-F238E27FC236}">
                <a16:creationId xmlns:a16="http://schemas.microsoft.com/office/drawing/2014/main" id="{D56A6DEC-C692-09E9-332B-594193D4036B}"/>
              </a:ext>
            </a:extLst>
          </p:cNvPr>
          <p:cNvSpPr txBox="1"/>
          <p:nvPr/>
        </p:nvSpPr>
        <p:spPr>
          <a:xfrm>
            <a:off x="3080384" y="2809576"/>
            <a:ext cx="3018591" cy="369332"/>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ESP 32 WIFI</a:t>
            </a:r>
          </a:p>
        </p:txBody>
      </p:sp>
      <p:sp>
        <p:nvSpPr>
          <p:cNvPr id="22" name="TextBox 21">
            <a:extLst>
              <a:ext uri="{FF2B5EF4-FFF2-40B4-BE49-F238E27FC236}">
                <a16:creationId xmlns:a16="http://schemas.microsoft.com/office/drawing/2014/main" id="{8187A042-CCAF-40AC-A1E8-2EF47F0C80BD}"/>
              </a:ext>
            </a:extLst>
          </p:cNvPr>
          <p:cNvSpPr txBox="1"/>
          <p:nvPr/>
        </p:nvSpPr>
        <p:spPr>
          <a:xfrm>
            <a:off x="3080384" y="2809575"/>
            <a:ext cx="3018591" cy="369332"/>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EMBEDDED C/C++</a:t>
            </a:r>
          </a:p>
        </p:txBody>
      </p:sp>
      <p:sp>
        <p:nvSpPr>
          <p:cNvPr id="18" name="TextBox 17">
            <a:extLst>
              <a:ext uri="{FF2B5EF4-FFF2-40B4-BE49-F238E27FC236}">
                <a16:creationId xmlns:a16="http://schemas.microsoft.com/office/drawing/2014/main" id="{8EFBF68C-273E-BF39-0544-FEC59E13EA11}"/>
              </a:ext>
            </a:extLst>
          </p:cNvPr>
          <p:cNvSpPr txBox="1"/>
          <p:nvPr/>
        </p:nvSpPr>
        <p:spPr>
          <a:xfrm>
            <a:off x="3077723" y="2806913"/>
            <a:ext cx="3018591" cy="369332"/>
          </a:xfrm>
          <a:prstGeom prst="rect">
            <a:avLst/>
          </a:prstGeom>
          <a:solidFill>
            <a:srgbClr val="12244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solidFill>
                  <a:schemeClr val="bg1"/>
                </a:solidFill>
                <a:latin typeface="Franklin Gothic Demi"/>
              </a:rPr>
              <a:t>SOURCE USED</a:t>
            </a:r>
          </a:p>
        </p:txBody>
      </p:sp>
      <p:sp>
        <p:nvSpPr>
          <p:cNvPr id="23" name="TextBox 22">
            <a:extLst>
              <a:ext uri="{FF2B5EF4-FFF2-40B4-BE49-F238E27FC236}">
                <a16:creationId xmlns:a16="http://schemas.microsoft.com/office/drawing/2014/main" id="{10FC2D8D-64B1-8C81-DAFA-6F945F916C84}"/>
              </a:ext>
            </a:extLst>
          </p:cNvPr>
          <p:cNvSpPr txBox="1"/>
          <p:nvPr/>
        </p:nvSpPr>
        <p:spPr>
          <a:xfrm>
            <a:off x="3104444" y="677333"/>
            <a:ext cx="581377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Aptos SemiBold"/>
              </a:rPr>
              <a:t>COMMUNICATION FLOW IS BASICALLY LIKE,</a:t>
            </a:r>
          </a:p>
        </p:txBody>
      </p:sp>
      <p:sp>
        <p:nvSpPr>
          <p:cNvPr id="24" name="TextBox 23">
            <a:extLst>
              <a:ext uri="{FF2B5EF4-FFF2-40B4-BE49-F238E27FC236}">
                <a16:creationId xmlns:a16="http://schemas.microsoft.com/office/drawing/2014/main" id="{FC4C2D9B-70D5-0D73-0BDE-9C29E415E753}"/>
              </a:ext>
            </a:extLst>
          </p:cNvPr>
          <p:cNvSpPr txBox="1"/>
          <p:nvPr/>
        </p:nvSpPr>
        <p:spPr>
          <a:xfrm>
            <a:off x="3273777" y="1114778"/>
            <a:ext cx="4120444" cy="923330"/>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WATER FLOWS-SENSOR MEASURES-OUTPUT TO ESP32-DIPLAYED ON TFT-DASHBOARD RECORDS OUTPUT.</a:t>
            </a:r>
          </a:p>
        </p:txBody>
      </p:sp>
      <p:sp>
        <p:nvSpPr>
          <p:cNvPr id="25" name="TextBox 24">
            <a:extLst>
              <a:ext uri="{FF2B5EF4-FFF2-40B4-BE49-F238E27FC236}">
                <a16:creationId xmlns:a16="http://schemas.microsoft.com/office/drawing/2014/main" id="{48B7B5A0-A500-E154-ED0B-90B4C5A6BF0E}"/>
              </a:ext>
            </a:extLst>
          </p:cNvPr>
          <p:cNvSpPr txBox="1"/>
          <p:nvPr/>
        </p:nvSpPr>
        <p:spPr>
          <a:xfrm>
            <a:off x="3076222" y="3344333"/>
            <a:ext cx="5362222" cy="1477328"/>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Franklin Gothic Demi Cond"/>
              </a:rPr>
              <a:t>BRAINSTROMING-OPENAI,MANUS</a:t>
            </a:r>
          </a:p>
          <a:p>
            <a:r>
              <a:rPr lang="en-US">
                <a:latin typeface="Franklin Gothic Demi Cond"/>
              </a:rPr>
              <a:t>RESEARCH-PERPLEXITY,GEMINI</a:t>
            </a:r>
          </a:p>
          <a:p>
            <a:r>
              <a:rPr lang="en-US">
                <a:latin typeface="Franklin Gothic Demi Cond"/>
              </a:rPr>
              <a:t>YOUTUBR-HOW TO MECHATRONICS,GREATSCOTT</a:t>
            </a:r>
          </a:p>
          <a:p>
            <a:r>
              <a:rPr lang="en-US">
                <a:latin typeface="Franklin Gothic Demi Cond"/>
              </a:rPr>
              <a:t>IMPLEMENTATION-GITHUB,AURDINO PROJECT HUB</a:t>
            </a:r>
          </a:p>
          <a:p>
            <a:r>
              <a:rPr lang="en-US">
                <a:latin typeface="Franklin Gothic Demi Cond"/>
              </a:rPr>
              <a:t>CODE-CODEX,CLAUDE CODE</a:t>
            </a:r>
          </a:p>
        </p:txBody>
      </p:sp>
    </p:spTree>
    <p:extLst>
      <p:ext uri="{BB962C8B-B14F-4D97-AF65-F5344CB8AC3E}">
        <p14:creationId xmlns:p14="http://schemas.microsoft.com/office/powerpoint/2010/main" val="3330784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9A99726-C532-FCAD-244F-5887FCA74FEF}"/>
              </a:ext>
            </a:extLst>
          </p:cNvPr>
          <p:cNvSpPr txBox="1"/>
          <p:nvPr/>
        </p:nvSpPr>
        <p:spPr>
          <a:xfrm>
            <a:off x="4689051" y="2993020"/>
            <a:ext cx="3018591" cy="369332"/>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PIPE CONNECTOR</a:t>
            </a:r>
          </a:p>
        </p:txBody>
      </p:sp>
      <p:sp>
        <p:nvSpPr>
          <p:cNvPr id="9" name="TextBox 8">
            <a:extLst>
              <a:ext uri="{FF2B5EF4-FFF2-40B4-BE49-F238E27FC236}">
                <a16:creationId xmlns:a16="http://schemas.microsoft.com/office/drawing/2014/main" id="{FE85FFF5-7CFA-3C25-53DD-8D271B90E38B}"/>
              </a:ext>
            </a:extLst>
          </p:cNvPr>
          <p:cNvSpPr txBox="1"/>
          <p:nvPr/>
        </p:nvSpPr>
        <p:spPr>
          <a:xfrm>
            <a:off x="6608162" y="2442687"/>
            <a:ext cx="3018591" cy="369332"/>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YF-S201 SENSOR</a:t>
            </a:r>
          </a:p>
        </p:txBody>
      </p:sp>
      <p:sp>
        <p:nvSpPr>
          <p:cNvPr id="5" name="TextBox 4">
            <a:extLst>
              <a:ext uri="{FF2B5EF4-FFF2-40B4-BE49-F238E27FC236}">
                <a16:creationId xmlns:a16="http://schemas.microsoft.com/office/drawing/2014/main" id="{67CFDDE3-DC3B-3655-739B-7428949A1A0C}"/>
              </a:ext>
            </a:extLst>
          </p:cNvPr>
          <p:cNvSpPr txBox="1"/>
          <p:nvPr/>
        </p:nvSpPr>
        <p:spPr>
          <a:xfrm>
            <a:off x="3077723" y="1353469"/>
            <a:ext cx="3018591" cy="369332"/>
          </a:xfrm>
          <a:prstGeom prst="rect">
            <a:avLst/>
          </a:prstGeom>
          <a:solidFill>
            <a:srgbClr val="32323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solidFill>
                  <a:schemeClr val="bg1"/>
                </a:solidFill>
                <a:latin typeface="Franklin Gothic Demi"/>
              </a:rPr>
              <a:t>HARDWARE COMPONENTS</a:t>
            </a:r>
          </a:p>
        </p:txBody>
      </p:sp>
      <p:sp>
        <p:nvSpPr>
          <p:cNvPr id="7" name="TextBox 6">
            <a:extLst>
              <a:ext uri="{FF2B5EF4-FFF2-40B4-BE49-F238E27FC236}">
                <a16:creationId xmlns:a16="http://schemas.microsoft.com/office/drawing/2014/main" id="{1C54B830-8CC0-499E-CC89-E635041CAE28}"/>
              </a:ext>
            </a:extLst>
          </p:cNvPr>
          <p:cNvSpPr txBox="1"/>
          <p:nvPr/>
        </p:nvSpPr>
        <p:spPr>
          <a:xfrm>
            <a:off x="6608162" y="1835909"/>
            <a:ext cx="3018591" cy="369332"/>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ESP32 WROOM</a:t>
            </a:r>
          </a:p>
        </p:txBody>
      </p:sp>
      <p:sp>
        <p:nvSpPr>
          <p:cNvPr id="10" name="TextBox 9">
            <a:extLst>
              <a:ext uri="{FF2B5EF4-FFF2-40B4-BE49-F238E27FC236}">
                <a16:creationId xmlns:a16="http://schemas.microsoft.com/office/drawing/2014/main" id="{B413075E-52C8-55EF-0103-D031066AEB1A}"/>
              </a:ext>
            </a:extLst>
          </p:cNvPr>
          <p:cNvSpPr txBox="1"/>
          <p:nvPr/>
        </p:nvSpPr>
        <p:spPr>
          <a:xfrm>
            <a:off x="3080384" y="2442688"/>
            <a:ext cx="3018591" cy="369332"/>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BUZZER+LED</a:t>
            </a:r>
          </a:p>
        </p:txBody>
      </p:sp>
      <p:sp>
        <p:nvSpPr>
          <p:cNvPr id="11" name="TextBox 10">
            <a:extLst>
              <a:ext uri="{FF2B5EF4-FFF2-40B4-BE49-F238E27FC236}">
                <a16:creationId xmlns:a16="http://schemas.microsoft.com/office/drawing/2014/main" id="{FB4D6954-1E82-4338-A084-6554A626317C}"/>
              </a:ext>
            </a:extLst>
          </p:cNvPr>
          <p:cNvSpPr txBox="1"/>
          <p:nvPr/>
        </p:nvSpPr>
        <p:spPr>
          <a:xfrm>
            <a:off x="3080385" y="1835909"/>
            <a:ext cx="3018591" cy="369332"/>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TFT SCREEN</a:t>
            </a:r>
          </a:p>
        </p:txBody>
      </p:sp>
      <p:pic>
        <p:nvPicPr>
          <p:cNvPr id="12" name="Picture 11" descr="Software Animated Icon | Free computer Animated Icon">
            <a:extLst>
              <a:ext uri="{FF2B5EF4-FFF2-40B4-BE49-F238E27FC236}">
                <a16:creationId xmlns:a16="http://schemas.microsoft.com/office/drawing/2014/main" id="{FADDC0AB-5B66-01BE-9FB8-FF4ABCC7CA68}"/>
              </a:ext>
            </a:extLst>
          </p:cNvPr>
          <p:cNvPicPr>
            <a:picLocks noChangeAspect="1"/>
          </p:cNvPicPr>
          <p:nvPr/>
        </p:nvPicPr>
        <p:blipFill>
          <a:blip r:embed="rId2"/>
          <a:stretch>
            <a:fillRect/>
          </a:stretch>
        </p:blipFill>
        <p:spPr>
          <a:xfrm>
            <a:off x="155222" y="3358445"/>
            <a:ext cx="2652889" cy="2737556"/>
          </a:xfrm>
          <a:prstGeom prst="rect">
            <a:avLst/>
          </a:prstGeom>
        </p:spPr>
      </p:pic>
      <p:pic>
        <p:nvPicPr>
          <p:cNvPr id="16" name="Picture 15" descr="Circuit board Animated Icon | Free technology Animated Icon">
            <a:extLst>
              <a:ext uri="{FF2B5EF4-FFF2-40B4-BE49-F238E27FC236}">
                <a16:creationId xmlns:a16="http://schemas.microsoft.com/office/drawing/2014/main" id="{B5EE3EE0-C97F-09B6-94A0-B73BF6E5F23F}"/>
              </a:ext>
            </a:extLst>
          </p:cNvPr>
          <p:cNvPicPr>
            <a:picLocks noChangeAspect="1"/>
          </p:cNvPicPr>
          <p:nvPr/>
        </p:nvPicPr>
        <p:blipFill>
          <a:blip r:embed="rId3"/>
          <a:stretch>
            <a:fillRect/>
          </a:stretch>
        </p:blipFill>
        <p:spPr>
          <a:xfrm>
            <a:off x="-5644" y="841023"/>
            <a:ext cx="2819399" cy="2748844"/>
          </a:xfrm>
          <a:prstGeom prst="rect">
            <a:avLst/>
          </a:prstGeom>
        </p:spPr>
      </p:pic>
      <p:sp>
        <p:nvSpPr>
          <p:cNvPr id="19" name="TextBox 18">
            <a:extLst>
              <a:ext uri="{FF2B5EF4-FFF2-40B4-BE49-F238E27FC236}">
                <a16:creationId xmlns:a16="http://schemas.microsoft.com/office/drawing/2014/main" id="{5E93981F-BC66-9F07-CEFC-510433761E85}"/>
              </a:ext>
            </a:extLst>
          </p:cNvPr>
          <p:cNvSpPr txBox="1"/>
          <p:nvPr/>
        </p:nvSpPr>
        <p:spPr>
          <a:xfrm>
            <a:off x="6426847" y="5025020"/>
            <a:ext cx="3018591" cy="369332"/>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AURDINO IDE</a:t>
            </a:r>
          </a:p>
        </p:txBody>
      </p:sp>
      <p:sp>
        <p:nvSpPr>
          <p:cNvPr id="20" name="TextBox 19">
            <a:extLst>
              <a:ext uri="{FF2B5EF4-FFF2-40B4-BE49-F238E27FC236}">
                <a16:creationId xmlns:a16="http://schemas.microsoft.com/office/drawing/2014/main" id="{B6C9D810-9EB6-B957-C8F6-094114594363}"/>
              </a:ext>
            </a:extLst>
          </p:cNvPr>
          <p:cNvSpPr txBox="1"/>
          <p:nvPr/>
        </p:nvSpPr>
        <p:spPr>
          <a:xfrm>
            <a:off x="6424717" y="4545243"/>
            <a:ext cx="3018591" cy="369332"/>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PYTHON PROGRAMMNING</a:t>
            </a:r>
          </a:p>
        </p:txBody>
      </p:sp>
      <p:sp>
        <p:nvSpPr>
          <p:cNvPr id="21" name="TextBox 20">
            <a:extLst>
              <a:ext uri="{FF2B5EF4-FFF2-40B4-BE49-F238E27FC236}">
                <a16:creationId xmlns:a16="http://schemas.microsoft.com/office/drawing/2014/main" id="{D56A6DEC-C692-09E9-332B-594193D4036B}"/>
              </a:ext>
            </a:extLst>
          </p:cNvPr>
          <p:cNvSpPr txBox="1"/>
          <p:nvPr/>
        </p:nvSpPr>
        <p:spPr>
          <a:xfrm>
            <a:off x="3080384" y="5025021"/>
            <a:ext cx="3018591" cy="369332"/>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ESP 32 WIFI</a:t>
            </a:r>
          </a:p>
        </p:txBody>
      </p:sp>
      <p:sp>
        <p:nvSpPr>
          <p:cNvPr id="22" name="TextBox 21">
            <a:extLst>
              <a:ext uri="{FF2B5EF4-FFF2-40B4-BE49-F238E27FC236}">
                <a16:creationId xmlns:a16="http://schemas.microsoft.com/office/drawing/2014/main" id="{8187A042-CCAF-40AC-A1E8-2EF47F0C80BD}"/>
              </a:ext>
            </a:extLst>
          </p:cNvPr>
          <p:cNvSpPr txBox="1"/>
          <p:nvPr/>
        </p:nvSpPr>
        <p:spPr>
          <a:xfrm>
            <a:off x="3052162" y="4531131"/>
            <a:ext cx="3018591" cy="369332"/>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Franklin Gothic Demi Cond"/>
              </a:rPr>
              <a:t>EMBEDDED C/C++</a:t>
            </a:r>
          </a:p>
        </p:txBody>
      </p:sp>
      <p:sp>
        <p:nvSpPr>
          <p:cNvPr id="18" name="TextBox 17">
            <a:extLst>
              <a:ext uri="{FF2B5EF4-FFF2-40B4-BE49-F238E27FC236}">
                <a16:creationId xmlns:a16="http://schemas.microsoft.com/office/drawing/2014/main" id="{8EFBF68C-273E-BF39-0544-FEC59E13EA11}"/>
              </a:ext>
            </a:extLst>
          </p:cNvPr>
          <p:cNvSpPr txBox="1"/>
          <p:nvPr/>
        </p:nvSpPr>
        <p:spPr>
          <a:xfrm>
            <a:off x="3049501" y="3935802"/>
            <a:ext cx="3018591" cy="369332"/>
          </a:xfrm>
          <a:prstGeom prst="rect">
            <a:avLst/>
          </a:prstGeom>
          <a:solidFill>
            <a:srgbClr val="12244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solidFill>
                  <a:schemeClr val="bg1"/>
                </a:solidFill>
                <a:latin typeface="Franklin Gothic Demi"/>
              </a:rPr>
              <a:t>SOFTWARE COMPONENTS</a:t>
            </a:r>
          </a:p>
        </p:txBody>
      </p:sp>
      <p:sp>
        <p:nvSpPr>
          <p:cNvPr id="23" name="TextBox 22">
            <a:extLst>
              <a:ext uri="{FF2B5EF4-FFF2-40B4-BE49-F238E27FC236}">
                <a16:creationId xmlns:a16="http://schemas.microsoft.com/office/drawing/2014/main" id="{10FC2D8D-64B1-8C81-DAFA-6F945F916C84}"/>
              </a:ext>
            </a:extLst>
          </p:cNvPr>
          <p:cNvSpPr txBox="1"/>
          <p:nvPr/>
        </p:nvSpPr>
        <p:spPr>
          <a:xfrm>
            <a:off x="3132666" y="-1467556"/>
            <a:ext cx="581377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Aptos SemiBold"/>
              </a:rPr>
              <a:t>COMMUNICATION FLOW IS BASICALLY LIKE,</a:t>
            </a:r>
          </a:p>
        </p:txBody>
      </p:sp>
      <p:sp>
        <p:nvSpPr>
          <p:cNvPr id="24" name="TextBox 23">
            <a:extLst>
              <a:ext uri="{FF2B5EF4-FFF2-40B4-BE49-F238E27FC236}">
                <a16:creationId xmlns:a16="http://schemas.microsoft.com/office/drawing/2014/main" id="{FC4C2D9B-70D5-0D73-0BDE-9C29E415E753}"/>
              </a:ext>
            </a:extLst>
          </p:cNvPr>
          <p:cNvSpPr txBox="1"/>
          <p:nvPr/>
        </p:nvSpPr>
        <p:spPr>
          <a:xfrm>
            <a:off x="3301999" y="-1030111"/>
            <a:ext cx="4120444" cy="923330"/>
          </a:xfrm>
          <a:prstGeom prst="rect">
            <a:avLst/>
          </a:prstGeom>
          <a:solidFill>
            <a:srgbClr val="FFDB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ESP32-A → Wi-Fi → ESP32-B</a:t>
            </a:r>
            <a:endParaRPr lang="en-US"/>
          </a:p>
          <a:p>
            <a:r>
              <a:rPr lang="en-US" b="1">
                <a:ea typeface="+mn-lt"/>
                <a:cs typeface="+mn-lt"/>
              </a:rPr>
              <a:t>ESP32-A → Wi-Fi → Laptop Dashboard</a:t>
            </a:r>
            <a:endParaRPr lang="en-US"/>
          </a:p>
          <a:p>
            <a:r>
              <a:rPr lang="en-US" b="1">
                <a:ea typeface="+mn-lt"/>
                <a:cs typeface="+mn-lt"/>
              </a:rPr>
              <a:t>ESP32-A → SIM800L → SMS → User</a:t>
            </a:r>
            <a:endParaRPr lang="en-US"/>
          </a:p>
        </p:txBody>
      </p:sp>
      <p:sp>
        <p:nvSpPr>
          <p:cNvPr id="25" name="TextBox 24">
            <a:extLst>
              <a:ext uri="{FF2B5EF4-FFF2-40B4-BE49-F238E27FC236}">
                <a16:creationId xmlns:a16="http://schemas.microsoft.com/office/drawing/2014/main" id="{48B7B5A0-A500-E154-ED0B-90B4C5A6BF0E}"/>
              </a:ext>
            </a:extLst>
          </p:cNvPr>
          <p:cNvSpPr txBox="1"/>
          <p:nvPr/>
        </p:nvSpPr>
        <p:spPr>
          <a:xfrm>
            <a:off x="3048000" y="-1594557"/>
            <a:ext cx="5362222" cy="1477328"/>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Franklin Gothic Demi Cond"/>
              </a:rPr>
              <a:t>BRAINSTROMING-OPENAI,MANUS</a:t>
            </a:r>
          </a:p>
          <a:p>
            <a:r>
              <a:rPr lang="en-US">
                <a:latin typeface="Franklin Gothic Demi Cond"/>
              </a:rPr>
              <a:t>RESEARCH-PERPLEXITY,GEMINI</a:t>
            </a:r>
          </a:p>
          <a:p>
            <a:r>
              <a:rPr lang="en-US">
                <a:latin typeface="Franklin Gothic Demi Cond"/>
              </a:rPr>
              <a:t>YOUTUBR-HOW TO MECHATRONICS,GREATSCOTT</a:t>
            </a:r>
          </a:p>
          <a:p>
            <a:r>
              <a:rPr lang="en-US">
                <a:latin typeface="Franklin Gothic Demi Cond"/>
              </a:rPr>
              <a:t>IMPLEMENTATION-GITHUB,AURDINO PROJECT HUB</a:t>
            </a:r>
          </a:p>
          <a:p>
            <a:r>
              <a:rPr lang="en-US">
                <a:latin typeface="Franklin Gothic Demi Cond"/>
              </a:rPr>
              <a:t>CODE-CODEX,CLAUDE CODE</a:t>
            </a:r>
          </a:p>
        </p:txBody>
      </p:sp>
    </p:spTree>
    <p:extLst>
      <p:ext uri="{BB962C8B-B14F-4D97-AF65-F5344CB8AC3E}">
        <p14:creationId xmlns:p14="http://schemas.microsoft.com/office/powerpoint/2010/main" val="226700600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9F34E8-60BF-44F8-F8EB-D6C15CEE8299}"/>
              </a:ext>
            </a:extLst>
          </p:cNvPr>
          <p:cNvSpPr txBox="1"/>
          <p:nvPr/>
        </p:nvSpPr>
        <p:spPr>
          <a:xfrm>
            <a:off x="225777" y="211667"/>
            <a:ext cx="345722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a:latin typeface="Franklin Gothic Demi Cond"/>
              </a:rPr>
              <a:t>U</a:t>
            </a:r>
            <a:r>
              <a:rPr lang="en-US" sz="3200">
                <a:latin typeface="Franklin Gothic Demi Cond"/>
              </a:rPr>
              <a:t>SE </a:t>
            </a:r>
            <a:r>
              <a:rPr lang="en-US" sz="6000">
                <a:latin typeface="Franklin Gothic Demi Cond"/>
              </a:rPr>
              <a:t>C</a:t>
            </a:r>
            <a:r>
              <a:rPr lang="en-US" sz="3200">
                <a:latin typeface="Franklin Gothic Demi Cond"/>
              </a:rPr>
              <a:t>ASE-1</a:t>
            </a:r>
          </a:p>
        </p:txBody>
      </p:sp>
      <p:sp>
        <p:nvSpPr>
          <p:cNvPr id="10" name="TextBox 9">
            <a:extLst>
              <a:ext uri="{FF2B5EF4-FFF2-40B4-BE49-F238E27FC236}">
                <a16:creationId xmlns:a16="http://schemas.microsoft.com/office/drawing/2014/main" id="{48F4F46F-EF0F-7B24-66E4-9E1ADC1C47A5}"/>
              </a:ext>
            </a:extLst>
          </p:cNvPr>
          <p:cNvSpPr txBox="1"/>
          <p:nvPr/>
        </p:nvSpPr>
        <p:spPr>
          <a:xfrm>
            <a:off x="2440230" y="1390126"/>
            <a:ext cx="8970818" cy="923330"/>
          </a:xfrm>
          <a:prstGeom prst="rect">
            <a:avLst/>
          </a:prstGeom>
          <a:solidFill>
            <a:srgbClr val="03535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solidFill>
                  <a:schemeClr val="bg1"/>
                </a:solidFill>
                <a:latin typeface="Franklin Gothic Demi"/>
              </a:rPr>
              <a:t>PROBLEM CASE</a:t>
            </a:r>
          </a:p>
          <a:p>
            <a:endParaRPr lang="en-US" b="1">
              <a:solidFill>
                <a:schemeClr val="bg1"/>
              </a:solidFill>
              <a:latin typeface="Tw Cen MT"/>
            </a:endParaRPr>
          </a:p>
          <a:p>
            <a:r>
              <a:rPr lang="en-US">
                <a:solidFill>
                  <a:schemeClr val="bg1"/>
                </a:solidFill>
                <a:latin typeface="Tw Cen MT"/>
                <a:ea typeface="+mn-lt"/>
                <a:cs typeface="+mn-lt"/>
              </a:rPr>
              <a:t>Tap drips for 3 weeks unnoticed. 600L wasted. Bill ₹400 higher.</a:t>
            </a:r>
            <a:endParaRPr lang="en-US">
              <a:solidFill>
                <a:schemeClr val="bg1"/>
              </a:solidFill>
              <a:latin typeface="Tw Cen MT"/>
            </a:endParaRPr>
          </a:p>
        </p:txBody>
      </p:sp>
      <p:sp>
        <p:nvSpPr>
          <p:cNvPr id="11" name="TextBox 10">
            <a:extLst>
              <a:ext uri="{FF2B5EF4-FFF2-40B4-BE49-F238E27FC236}">
                <a16:creationId xmlns:a16="http://schemas.microsoft.com/office/drawing/2014/main" id="{A20D0DB9-841F-E3D1-07D8-F126B5CDA0AE}"/>
              </a:ext>
            </a:extLst>
          </p:cNvPr>
          <p:cNvSpPr txBox="1"/>
          <p:nvPr/>
        </p:nvSpPr>
        <p:spPr>
          <a:xfrm>
            <a:off x="2440230" y="4187853"/>
            <a:ext cx="8970818" cy="1477328"/>
          </a:xfrm>
          <a:prstGeom prst="rect">
            <a:avLst/>
          </a:prstGeom>
          <a:solidFill>
            <a:srgbClr val="F3E8BC"/>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Franklin Gothic Demi"/>
              </a:rPr>
              <a:t>USE CASE</a:t>
            </a:r>
          </a:p>
          <a:p>
            <a:endParaRPr lang="en-US" b="1">
              <a:latin typeface="Tw Cen MT"/>
            </a:endParaRPr>
          </a:p>
          <a:p>
            <a:r>
              <a:rPr lang="en-US" b="1" err="1">
                <a:latin typeface="Tw Cen MT"/>
              </a:rPr>
              <a:t>Smartflow</a:t>
            </a:r>
            <a:r>
              <a:rPr lang="en-US" b="1">
                <a:latin typeface="Tw Cen MT"/>
              </a:rPr>
              <a:t> can show you the unnoticed dripping the user can just see the dashboard and detect there was flow of water even </a:t>
            </a:r>
            <a:r>
              <a:rPr lang="en-US" b="1" err="1">
                <a:latin typeface="Tw Cen MT"/>
              </a:rPr>
              <a:t>tho</a:t>
            </a:r>
            <a:r>
              <a:rPr lang="en-US" b="1">
                <a:latin typeface="Tw Cen MT"/>
              </a:rPr>
              <a:t> the user </a:t>
            </a:r>
            <a:r>
              <a:rPr lang="en-US" b="1" err="1">
                <a:latin typeface="Tw Cen MT"/>
              </a:rPr>
              <a:t>have'nt</a:t>
            </a:r>
            <a:r>
              <a:rPr lang="en-US" b="1">
                <a:latin typeface="Tw Cen MT"/>
              </a:rPr>
              <a:t> used the pipe the water is leaked using this the user can fix the pipe without delay and wasting his money</a:t>
            </a:r>
          </a:p>
        </p:txBody>
      </p:sp>
      <p:pic>
        <p:nvPicPr>
          <p:cNvPr id="2" name="Picture 1">
            <a:extLst>
              <a:ext uri="{FF2B5EF4-FFF2-40B4-BE49-F238E27FC236}">
                <a16:creationId xmlns:a16="http://schemas.microsoft.com/office/drawing/2014/main" id="{38C8B50B-825B-1E5F-B4AF-243BD1263CC6}"/>
              </a:ext>
            </a:extLst>
          </p:cNvPr>
          <p:cNvPicPr>
            <a:picLocks noChangeAspect="1"/>
          </p:cNvPicPr>
          <p:nvPr/>
        </p:nvPicPr>
        <p:blipFill>
          <a:blip r:embed="rId2"/>
          <a:stretch>
            <a:fillRect/>
          </a:stretch>
        </p:blipFill>
        <p:spPr>
          <a:xfrm>
            <a:off x="954656" y="1220638"/>
            <a:ext cx="1253707" cy="1268084"/>
          </a:xfrm>
          <a:prstGeom prst="rect">
            <a:avLst/>
          </a:prstGeom>
        </p:spPr>
      </p:pic>
      <p:pic>
        <p:nvPicPr>
          <p:cNvPr id="3" name="Picture 2">
            <a:extLst>
              <a:ext uri="{FF2B5EF4-FFF2-40B4-BE49-F238E27FC236}">
                <a16:creationId xmlns:a16="http://schemas.microsoft.com/office/drawing/2014/main" id="{F8A9B65E-70FA-4847-6F5C-91C8D568EF16}"/>
              </a:ext>
            </a:extLst>
          </p:cNvPr>
          <p:cNvPicPr>
            <a:picLocks noChangeAspect="1"/>
          </p:cNvPicPr>
          <p:nvPr/>
        </p:nvPicPr>
        <p:blipFill>
          <a:blip r:embed="rId3"/>
          <a:stretch>
            <a:fillRect/>
          </a:stretch>
        </p:blipFill>
        <p:spPr>
          <a:xfrm>
            <a:off x="5751" y="2485844"/>
            <a:ext cx="1153065" cy="1268084"/>
          </a:xfrm>
          <a:prstGeom prst="rect">
            <a:avLst/>
          </a:prstGeom>
        </p:spPr>
      </p:pic>
      <p:pic>
        <p:nvPicPr>
          <p:cNvPr id="5" name="Picture 4">
            <a:extLst>
              <a:ext uri="{FF2B5EF4-FFF2-40B4-BE49-F238E27FC236}">
                <a16:creationId xmlns:a16="http://schemas.microsoft.com/office/drawing/2014/main" id="{889D383F-8850-5DB7-D111-E9D7A3966864}"/>
              </a:ext>
            </a:extLst>
          </p:cNvPr>
          <p:cNvPicPr>
            <a:picLocks noChangeAspect="1"/>
          </p:cNvPicPr>
          <p:nvPr/>
        </p:nvPicPr>
        <p:blipFill>
          <a:blip r:embed="rId4"/>
          <a:stretch>
            <a:fillRect/>
          </a:stretch>
        </p:blipFill>
        <p:spPr>
          <a:xfrm>
            <a:off x="825260" y="3894826"/>
            <a:ext cx="1498122" cy="1498121"/>
          </a:xfrm>
          <a:prstGeom prst="rect">
            <a:avLst/>
          </a:prstGeom>
        </p:spPr>
      </p:pic>
    </p:spTree>
    <p:extLst>
      <p:ext uri="{BB962C8B-B14F-4D97-AF65-F5344CB8AC3E}">
        <p14:creationId xmlns:p14="http://schemas.microsoft.com/office/powerpoint/2010/main" val="3272576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19623-0D8B-7E98-CC60-C5287002012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7782D4-49CE-77E6-0C5C-AACCEA0793E7}"/>
              </a:ext>
            </a:extLst>
          </p:cNvPr>
          <p:cNvSpPr txBox="1"/>
          <p:nvPr/>
        </p:nvSpPr>
        <p:spPr>
          <a:xfrm>
            <a:off x="225777" y="211667"/>
            <a:ext cx="345722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a:latin typeface="Franklin Gothic Demi Cond"/>
              </a:rPr>
              <a:t>U</a:t>
            </a:r>
            <a:r>
              <a:rPr lang="en-US" sz="3200">
                <a:latin typeface="Franklin Gothic Demi Cond"/>
              </a:rPr>
              <a:t>SE </a:t>
            </a:r>
            <a:r>
              <a:rPr lang="en-US" sz="6000">
                <a:latin typeface="Franklin Gothic Demi Cond"/>
              </a:rPr>
              <a:t>C</a:t>
            </a:r>
            <a:r>
              <a:rPr lang="en-US" sz="3200">
                <a:latin typeface="Franklin Gothic Demi Cond"/>
              </a:rPr>
              <a:t>ASES</a:t>
            </a:r>
          </a:p>
        </p:txBody>
      </p:sp>
      <p:sp>
        <p:nvSpPr>
          <p:cNvPr id="11" name="TextBox 10">
            <a:extLst>
              <a:ext uri="{FF2B5EF4-FFF2-40B4-BE49-F238E27FC236}">
                <a16:creationId xmlns:a16="http://schemas.microsoft.com/office/drawing/2014/main" id="{8D1A7B29-9907-4A82-F5ED-AD5A0DFECEBE}"/>
              </a:ext>
            </a:extLst>
          </p:cNvPr>
          <p:cNvSpPr txBox="1"/>
          <p:nvPr/>
        </p:nvSpPr>
        <p:spPr>
          <a:xfrm>
            <a:off x="1303354" y="1226383"/>
            <a:ext cx="10381928" cy="1200329"/>
          </a:xfrm>
          <a:prstGeom prst="rect">
            <a:avLst/>
          </a:prstGeom>
          <a:solidFill>
            <a:srgbClr val="F3E8BC"/>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Franklin Gothic Demi"/>
              </a:rPr>
              <a:t>DAILY WATER USAGE MONITORING</a:t>
            </a:r>
            <a:endParaRPr lang="en-US"/>
          </a:p>
          <a:p>
            <a:r>
              <a:rPr lang="en-US" i="1" err="1">
                <a:latin typeface="Aptos Narrow"/>
                <a:ea typeface="+mn-lt"/>
                <a:cs typeface="+mn-lt"/>
              </a:rPr>
              <a:t>SmartFlow</a:t>
            </a:r>
            <a:r>
              <a:rPr lang="en-US" i="1">
                <a:latin typeface="Aptos Narrow"/>
                <a:ea typeface="+mn-lt"/>
                <a:cs typeface="+mn-lt"/>
              </a:rPr>
              <a:t> continuously measures household water consumption and displays the amount of water used along with its estimated cost. This helps users understand their daily habits, identify unusually high consumption, and make informed decisions to reduce water wastage.</a:t>
            </a:r>
            <a:endParaRPr lang="en-US" i="1">
              <a:latin typeface="Aptos Narrow"/>
            </a:endParaRPr>
          </a:p>
        </p:txBody>
      </p:sp>
      <p:sp>
        <p:nvSpPr>
          <p:cNvPr id="2" name="TextBox 1">
            <a:extLst>
              <a:ext uri="{FF2B5EF4-FFF2-40B4-BE49-F238E27FC236}">
                <a16:creationId xmlns:a16="http://schemas.microsoft.com/office/drawing/2014/main" id="{56AA6821-71E6-440B-545A-079B0E77B30F}"/>
              </a:ext>
            </a:extLst>
          </p:cNvPr>
          <p:cNvSpPr txBox="1"/>
          <p:nvPr/>
        </p:nvSpPr>
        <p:spPr>
          <a:xfrm>
            <a:off x="1354666" y="3062111"/>
            <a:ext cx="10315222" cy="1200329"/>
          </a:xfrm>
          <a:prstGeom prst="rect">
            <a:avLst/>
          </a:prstGeom>
          <a:solidFill>
            <a:srgbClr val="FF45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solidFill>
                  <a:schemeClr val="bg1"/>
                </a:solidFill>
                <a:latin typeface="Franklin Gothic Demi"/>
              </a:rPr>
              <a:t>TANK OVERFLOW MONITORING</a:t>
            </a:r>
          </a:p>
          <a:p>
            <a:r>
              <a:rPr lang="en-US" i="1" err="1">
                <a:solidFill>
                  <a:schemeClr val="bg1"/>
                </a:solidFill>
                <a:latin typeface="Aptos Narrow"/>
                <a:ea typeface="+mn-lt"/>
                <a:cs typeface="+mn-lt"/>
              </a:rPr>
              <a:t>SmartFlow</a:t>
            </a:r>
            <a:r>
              <a:rPr lang="en-US" i="1">
                <a:solidFill>
                  <a:schemeClr val="bg1"/>
                </a:solidFill>
                <a:latin typeface="Aptos Narrow"/>
                <a:ea typeface="+mn-lt"/>
                <a:cs typeface="+mn-lt"/>
              </a:rPr>
              <a:t> monitors the duration and amount of water flowing while an overhead tank is being filled. If water continues flowing beyond the expected filling time, it alerts the user about a possible overflow, helping prevent unnecessary water wastage and damage caused by overflowing tanks</a:t>
            </a:r>
            <a:r>
              <a:rPr lang="en-US">
                <a:solidFill>
                  <a:schemeClr val="bg1"/>
                </a:solidFill>
                <a:ea typeface="+mn-lt"/>
                <a:cs typeface="+mn-lt"/>
              </a:rPr>
              <a:t>.</a:t>
            </a:r>
            <a:r>
              <a:rPr lang="en-US" i="1">
                <a:solidFill>
                  <a:schemeClr val="bg1"/>
                </a:solidFill>
                <a:latin typeface="Aptos SemiBold"/>
                <a:ea typeface="+mn-lt"/>
                <a:cs typeface="+mn-lt"/>
              </a:rPr>
              <a:t>.</a:t>
            </a:r>
            <a:endParaRPr lang="en-US" i="1">
              <a:solidFill>
                <a:schemeClr val="bg1"/>
              </a:solidFill>
              <a:latin typeface="Aptos SemiBold"/>
            </a:endParaRPr>
          </a:p>
        </p:txBody>
      </p:sp>
      <p:sp>
        <p:nvSpPr>
          <p:cNvPr id="3" name="TextBox 2">
            <a:extLst>
              <a:ext uri="{FF2B5EF4-FFF2-40B4-BE49-F238E27FC236}">
                <a16:creationId xmlns:a16="http://schemas.microsoft.com/office/drawing/2014/main" id="{6E85FD78-4918-2B88-C3D7-20DD580722B1}"/>
              </a:ext>
            </a:extLst>
          </p:cNvPr>
          <p:cNvSpPr txBox="1"/>
          <p:nvPr/>
        </p:nvSpPr>
        <p:spPr>
          <a:xfrm>
            <a:off x="1354666" y="4642555"/>
            <a:ext cx="10315222" cy="1200329"/>
          </a:xfrm>
          <a:prstGeom prst="rect">
            <a:avLst/>
          </a:prstGeom>
          <a:solidFill>
            <a:srgbClr val="BEE35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Franklin Gothic Demi"/>
              </a:rPr>
              <a:t>RENTAL/HOSTEL MONITORING</a:t>
            </a:r>
          </a:p>
          <a:p>
            <a:r>
              <a:rPr lang="en-US" i="1">
                <a:latin typeface="Aptos Narrow"/>
                <a:ea typeface="+mn-lt"/>
                <a:cs typeface="+mn-lt"/>
              </a:rPr>
              <a:t>In PGs, hostels, and rental properties, </a:t>
            </a:r>
            <a:r>
              <a:rPr lang="en-US" i="1" err="1">
                <a:latin typeface="Aptos Narrow"/>
                <a:ea typeface="+mn-lt"/>
                <a:cs typeface="+mn-lt"/>
              </a:rPr>
              <a:t>SmartFlow</a:t>
            </a:r>
            <a:r>
              <a:rPr lang="en-US" i="1">
                <a:latin typeface="Aptos Narrow"/>
                <a:ea typeface="+mn-lt"/>
                <a:cs typeface="+mn-lt"/>
              </a:rPr>
              <a:t> can monitor the water consumption of a building or individual inlet. This provides transparent usage data, helps identify abnormal consumption, and enables management to detect wastage without manually checking every water outlet.</a:t>
            </a:r>
            <a:endParaRPr lang="en-US" i="1">
              <a:latin typeface="Aptos Narrow"/>
            </a:endParaRPr>
          </a:p>
        </p:txBody>
      </p:sp>
    </p:spTree>
    <p:extLst>
      <p:ext uri="{BB962C8B-B14F-4D97-AF65-F5344CB8AC3E}">
        <p14:creationId xmlns:p14="http://schemas.microsoft.com/office/powerpoint/2010/main" val="2491740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FBB354-B196-8171-B422-C8608C85F081}"/>
              </a:ext>
            </a:extLst>
          </p:cNvPr>
          <p:cNvSpPr txBox="1"/>
          <p:nvPr/>
        </p:nvSpPr>
        <p:spPr>
          <a:xfrm>
            <a:off x="225777" y="225778"/>
            <a:ext cx="1862666" cy="369332"/>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i="1">
                <a:latin typeface="Aptos ExtraBold"/>
              </a:rPr>
              <a:t>SUSTAINBALITY</a:t>
            </a:r>
          </a:p>
        </p:txBody>
      </p:sp>
      <p:sp>
        <p:nvSpPr>
          <p:cNvPr id="2" name="TextBox 1">
            <a:extLst>
              <a:ext uri="{FF2B5EF4-FFF2-40B4-BE49-F238E27FC236}">
                <a16:creationId xmlns:a16="http://schemas.microsoft.com/office/drawing/2014/main" id="{F7ACA108-FA94-BCEB-47FE-F7377F172BF4}"/>
              </a:ext>
            </a:extLst>
          </p:cNvPr>
          <p:cNvSpPr txBox="1"/>
          <p:nvPr/>
        </p:nvSpPr>
        <p:spPr>
          <a:xfrm>
            <a:off x="225777" y="225778"/>
            <a:ext cx="1862666" cy="369332"/>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FEASIBILITY</a:t>
            </a:r>
            <a:endParaRPr lang="en-US"/>
          </a:p>
        </p:txBody>
      </p:sp>
      <p:sp>
        <p:nvSpPr>
          <p:cNvPr id="5" name="TextBox 4">
            <a:extLst>
              <a:ext uri="{FF2B5EF4-FFF2-40B4-BE49-F238E27FC236}">
                <a16:creationId xmlns:a16="http://schemas.microsoft.com/office/drawing/2014/main" id="{D3E2641A-5F9C-9403-07EE-0315627E28E9}"/>
              </a:ext>
            </a:extLst>
          </p:cNvPr>
          <p:cNvSpPr txBox="1"/>
          <p:nvPr/>
        </p:nvSpPr>
        <p:spPr>
          <a:xfrm>
            <a:off x="5531554" y="874889"/>
            <a:ext cx="1862666" cy="369332"/>
          </a:xfrm>
          <a:prstGeom prst="rect">
            <a:avLst/>
          </a:prstGeom>
          <a:solidFill>
            <a:schemeClr val="bg1">
              <a:lumMod val="7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OPERATIONAL</a:t>
            </a:r>
          </a:p>
        </p:txBody>
      </p:sp>
      <p:sp>
        <p:nvSpPr>
          <p:cNvPr id="6" name="TextBox 5">
            <a:extLst>
              <a:ext uri="{FF2B5EF4-FFF2-40B4-BE49-F238E27FC236}">
                <a16:creationId xmlns:a16="http://schemas.microsoft.com/office/drawing/2014/main" id="{EBFF4778-1BAE-86A9-7077-DAD656B62429}"/>
              </a:ext>
            </a:extLst>
          </p:cNvPr>
          <p:cNvSpPr txBox="1"/>
          <p:nvPr/>
        </p:nvSpPr>
        <p:spPr>
          <a:xfrm>
            <a:off x="225777" y="874889"/>
            <a:ext cx="1862666" cy="369332"/>
          </a:xfrm>
          <a:prstGeom prst="rect">
            <a:avLst/>
          </a:prstGeom>
          <a:solidFill>
            <a:schemeClr val="bg1">
              <a:lumMod val="7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TECHNICAL</a:t>
            </a:r>
          </a:p>
        </p:txBody>
      </p:sp>
      <p:sp>
        <p:nvSpPr>
          <p:cNvPr id="7" name="TextBox 6">
            <a:extLst>
              <a:ext uri="{FF2B5EF4-FFF2-40B4-BE49-F238E27FC236}">
                <a16:creationId xmlns:a16="http://schemas.microsoft.com/office/drawing/2014/main" id="{8A22DEBD-4025-DBC2-B412-CE286D07072D}"/>
              </a:ext>
            </a:extLst>
          </p:cNvPr>
          <p:cNvSpPr txBox="1"/>
          <p:nvPr/>
        </p:nvSpPr>
        <p:spPr>
          <a:xfrm>
            <a:off x="2836332" y="874888"/>
            <a:ext cx="1862666" cy="369332"/>
          </a:xfrm>
          <a:prstGeom prst="rect">
            <a:avLst/>
          </a:prstGeom>
          <a:solidFill>
            <a:schemeClr val="bg1">
              <a:lumMod val="7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FINANCIAL</a:t>
            </a:r>
          </a:p>
        </p:txBody>
      </p:sp>
      <p:sp>
        <p:nvSpPr>
          <p:cNvPr id="8" name="TextBox 7">
            <a:extLst>
              <a:ext uri="{FF2B5EF4-FFF2-40B4-BE49-F238E27FC236}">
                <a16:creationId xmlns:a16="http://schemas.microsoft.com/office/drawing/2014/main" id="{D6AB7076-2F47-9689-1B75-CCD1D76AE277}"/>
              </a:ext>
            </a:extLst>
          </p:cNvPr>
          <p:cNvSpPr txBox="1"/>
          <p:nvPr/>
        </p:nvSpPr>
        <p:spPr>
          <a:xfrm>
            <a:off x="225777" y="1707445"/>
            <a:ext cx="2060221" cy="369332"/>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SUSTAINABILITY</a:t>
            </a:r>
          </a:p>
        </p:txBody>
      </p:sp>
      <p:sp>
        <p:nvSpPr>
          <p:cNvPr id="9" name="TextBox 8">
            <a:extLst>
              <a:ext uri="{FF2B5EF4-FFF2-40B4-BE49-F238E27FC236}">
                <a16:creationId xmlns:a16="http://schemas.microsoft.com/office/drawing/2014/main" id="{28319BD3-926B-3284-04E0-DA54477505F5}"/>
              </a:ext>
            </a:extLst>
          </p:cNvPr>
          <p:cNvSpPr txBox="1"/>
          <p:nvPr/>
        </p:nvSpPr>
        <p:spPr>
          <a:xfrm>
            <a:off x="931333" y="2229556"/>
            <a:ext cx="11063110" cy="1200329"/>
          </a:xfrm>
          <a:prstGeom prst="rect">
            <a:avLst/>
          </a:prstGeom>
          <a:solidFill>
            <a:schemeClr val="bg1">
              <a:lumMod val="7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err="1">
                <a:latin typeface="Franklin Gothic Demi"/>
                <a:ea typeface="+mn-lt"/>
                <a:cs typeface="+mn-lt"/>
              </a:rPr>
              <a:t>SmartFlow</a:t>
            </a:r>
            <a:r>
              <a:rPr lang="en-US" i="1">
                <a:latin typeface="Franklin Gothic Demi"/>
                <a:ea typeface="+mn-lt"/>
                <a:cs typeface="+mn-lt"/>
              </a:rPr>
              <a:t> makes water conservation measurable and actionable by detecting leaks, abnormal usage, and overflow in real time. By preventing unnecessary water loss and reducing excessive pumping, it can conserve both water and energy. Its low-cost, low-power design makes it scalable from homes to PGs, hostels, schools, and commercial buildings—turning small savings into meaningful long-term environmental impact.</a:t>
            </a:r>
            <a:endParaRPr lang="en-US" i="1">
              <a:latin typeface="Franklin Gothic Demi"/>
            </a:endParaRPr>
          </a:p>
        </p:txBody>
      </p:sp>
    </p:spTree>
    <p:extLst>
      <p:ext uri="{BB962C8B-B14F-4D97-AF65-F5344CB8AC3E}">
        <p14:creationId xmlns:p14="http://schemas.microsoft.com/office/powerpoint/2010/main" val="141878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FBB354-B196-8171-B422-C8608C85F081}"/>
              </a:ext>
            </a:extLst>
          </p:cNvPr>
          <p:cNvSpPr txBox="1"/>
          <p:nvPr/>
        </p:nvSpPr>
        <p:spPr>
          <a:xfrm>
            <a:off x="225777" y="225778"/>
            <a:ext cx="1862666" cy="369332"/>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i="1">
                <a:latin typeface="Aptos ExtraBold"/>
              </a:rPr>
              <a:t>SUSTAINBALITY</a:t>
            </a:r>
          </a:p>
        </p:txBody>
      </p:sp>
      <p:sp>
        <p:nvSpPr>
          <p:cNvPr id="2" name="TextBox 1">
            <a:extLst>
              <a:ext uri="{FF2B5EF4-FFF2-40B4-BE49-F238E27FC236}">
                <a16:creationId xmlns:a16="http://schemas.microsoft.com/office/drawing/2014/main" id="{F7ACA108-FA94-BCEB-47FE-F7377F172BF4}"/>
              </a:ext>
            </a:extLst>
          </p:cNvPr>
          <p:cNvSpPr txBox="1"/>
          <p:nvPr/>
        </p:nvSpPr>
        <p:spPr>
          <a:xfrm>
            <a:off x="225777" y="225778"/>
            <a:ext cx="1862666" cy="369332"/>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FEASIBILITY</a:t>
            </a:r>
            <a:endParaRPr lang="en-US"/>
          </a:p>
        </p:txBody>
      </p:sp>
      <p:sp>
        <p:nvSpPr>
          <p:cNvPr id="5" name="TextBox 4">
            <a:extLst>
              <a:ext uri="{FF2B5EF4-FFF2-40B4-BE49-F238E27FC236}">
                <a16:creationId xmlns:a16="http://schemas.microsoft.com/office/drawing/2014/main" id="{D3E2641A-5F9C-9403-07EE-0315627E28E9}"/>
              </a:ext>
            </a:extLst>
          </p:cNvPr>
          <p:cNvSpPr txBox="1"/>
          <p:nvPr/>
        </p:nvSpPr>
        <p:spPr>
          <a:xfrm>
            <a:off x="225777" y="4628445"/>
            <a:ext cx="1862666" cy="369332"/>
          </a:xfrm>
          <a:prstGeom prst="rect">
            <a:avLst/>
          </a:prstGeom>
          <a:solidFill>
            <a:schemeClr val="bg1">
              <a:lumMod val="7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OPERATIONAL</a:t>
            </a:r>
          </a:p>
        </p:txBody>
      </p:sp>
      <p:sp>
        <p:nvSpPr>
          <p:cNvPr id="6" name="TextBox 5">
            <a:extLst>
              <a:ext uri="{FF2B5EF4-FFF2-40B4-BE49-F238E27FC236}">
                <a16:creationId xmlns:a16="http://schemas.microsoft.com/office/drawing/2014/main" id="{EBFF4778-1BAE-86A9-7077-DAD656B62429}"/>
              </a:ext>
            </a:extLst>
          </p:cNvPr>
          <p:cNvSpPr txBox="1"/>
          <p:nvPr/>
        </p:nvSpPr>
        <p:spPr>
          <a:xfrm>
            <a:off x="225777" y="747889"/>
            <a:ext cx="1862666" cy="369332"/>
          </a:xfrm>
          <a:prstGeom prst="rect">
            <a:avLst/>
          </a:prstGeom>
          <a:solidFill>
            <a:schemeClr val="bg1">
              <a:lumMod val="7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TECHNICAL</a:t>
            </a:r>
          </a:p>
        </p:txBody>
      </p:sp>
      <p:sp>
        <p:nvSpPr>
          <p:cNvPr id="7" name="TextBox 6">
            <a:extLst>
              <a:ext uri="{FF2B5EF4-FFF2-40B4-BE49-F238E27FC236}">
                <a16:creationId xmlns:a16="http://schemas.microsoft.com/office/drawing/2014/main" id="{8A22DEBD-4025-DBC2-B412-CE286D07072D}"/>
              </a:ext>
            </a:extLst>
          </p:cNvPr>
          <p:cNvSpPr txBox="1"/>
          <p:nvPr/>
        </p:nvSpPr>
        <p:spPr>
          <a:xfrm>
            <a:off x="225777" y="2878666"/>
            <a:ext cx="1862666" cy="369332"/>
          </a:xfrm>
          <a:prstGeom prst="rect">
            <a:avLst/>
          </a:prstGeom>
          <a:solidFill>
            <a:schemeClr val="bg1">
              <a:lumMod val="7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latin typeface="Aptos ExtraBold"/>
              </a:rPr>
              <a:t>FINANCIAL</a:t>
            </a:r>
          </a:p>
        </p:txBody>
      </p:sp>
      <p:sp>
        <p:nvSpPr>
          <p:cNvPr id="3" name="TextBox 2">
            <a:extLst>
              <a:ext uri="{FF2B5EF4-FFF2-40B4-BE49-F238E27FC236}">
                <a16:creationId xmlns:a16="http://schemas.microsoft.com/office/drawing/2014/main" id="{A4C044D9-72E0-CDA5-7910-89C0402E02E3}"/>
              </a:ext>
            </a:extLst>
          </p:cNvPr>
          <p:cNvSpPr txBox="1"/>
          <p:nvPr/>
        </p:nvSpPr>
        <p:spPr>
          <a:xfrm>
            <a:off x="366888" y="1241778"/>
            <a:ext cx="11599333" cy="1200329"/>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latin typeface="Tw Cen MT"/>
                <a:ea typeface="+mn-lt"/>
                <a:cs typeface="+mn-lt"/>
              </a:rPr>
              <a:t>SmartFlow</a:t>
            </a:r>
            <a:r>
              <a:rPr lang="en-US" b="1">
                <a:latin typeface="Tw Cen MT"/>
                <a:ea typeface="+mn-lt"/>
                <a:cs typeface="+mn-lt"/>
              </a:rPr>
              <a:t> uses readily available, low-cost components such as the YF-S201 flow sensor and ESP32. The sensor measures water flow, while the ESP32 processes the data, calculates consumption, detects abnormal patterns, and communicates alerts through Wi-Fi. The system can be implemented with standard embedded programming and a simple web dashboard.</a:t>
            </a:r>
            <a:endParaRPr lang="en-US" b="1">
              <a:latin typeface="Tw Cen MT"/>
            </a:endParaRPr>
          </a:p>
        </p:txBody>
      </p:sp>
      <p:sp>
        <p:nvSpPr>
          <p:cNvPr id="8" name="TextBox 7">
            <a:extLst>
              <a:ext uri="{FF2B5EF4-FFF2-40B4-BE49-F238E27FC236}">
                <a16:creationId xmlns:a16="http://schemas.microsoft.com/office/drawing/2014/main" id="{C19D318C-4C40-EDD2-E674-FB8A712164C3}"/>
              </a:ext>
            </a:extLst>
          </p:cNvPr>
          <p:cNvSpPr txBox="1"/>
          <p:nvPr/>
        </p:nvSpPr>
        <p:spPr>
          <a:xfrm>
            <a:off x="366888" y="3372556"/>
            <a:ext cx="11599333" cy="923330"/>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w Cen MT"/>
                <a:ea typeface="+mn-lt"/>
                <a:cs typeface="+mn-lt"/>
              </a:rPr>
              <a:t>The prototype can be built for approximately ₹1,030, making it affordable for household deployment. Most components are inexpensive and reusable, while the system requires no mandatory recurring subscription cost. Preventing continuous leaks and overflow can help users recover the device cost through reduced water wastage.</a:t>
            </a:r>
            <a:endParaRPr lang="en-US" b="1">
              <a:latin typeface="Tw Cen MT"/>
            </a:endParaRPr>
          </a:p>
        </p:txBody>
      </p:sp>
      <p:sp>
        <p:nvSpPr>
          <p:cNvPr id="9" name="TextBox 8">
            <a:extLst>
              <a:ext uri="{FF2B5EF4-FFF2-40B4-BE49-F238E27FC236}">
                <a16:creationId xmlns:a16="http://schemas.microsoft.com/office/drawing/2014/main" id="{37D21752-C1C2-666C-9AEC-D94845D4E92E}"/>
              </a:ext>
            </a:extLst>
          </p:cNvPr>
          <p:cNvSpPr txBox="1"/>
          <p:nvPr/>
        </p:nvSpPr>
        <p:spPr>
          <a:xfrm>
            <a:off x="366888" y="5150556"/>
            <a:ext cx="11599333" cy="923330"/>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latin typeface="Tw Cen MT"/>
                <a:ea typeface="+mn-lt"/>
                <a:cs typeface="+mn-lt"/>
              </a:rPr>
              <a:t>SmartFlow</a:t>
            </a:r>
            <a:r>
              <a:rPr lang="en-US" b="1">
                <a:latin typeface="Tw Cen MT"/>
                <a:ea typeface="+mn-lt"/>
                <a:cs typeface="+mn-lt"/>
              </a:rPr>
              <a:t> is designed to operate automatically once installed on the water inlet. Users do not need specialized technical knowledge or a dedicated mobile application. The live dashboard provides consumption information, while WhatsApp alerts notify users of potential problems, making the system simple to monitor and operate.</a:t>
            </a:r>
            <a:endParaRPr lang="en-US" b="1">
              <a:latin typeface="Tw Cen MT"/>
            </a:endParaRPr>
          </a:p>
        </p:txBody>
      </p:sp>
    </p:spTree>
    <p:extLst>
      <p:ext uri="{BB962C8B-B14F-4D97-AF65-F5344CB8AC3E}">
        <p14:creationId xmlns:p14="http://schemas.microsoft.com/office/powerpoint/2010/main" val="219394252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A7CE8F-8124-519F-9FD7-8B298F58FFBD}"/>
              </a:ext>
            </a:extLst>
          </p:cNvPr>
          <p:cNvPicPr>
            <a:picLocks noChangeAspect="1"/>
          </p:cNvPicPr>
          <p:nvPr/>
        </p:nvPicPr>
        <p:blipFill>
          <a:blip r:embed="rId2">
            <a:alphaModFix amt="47000"/>
          </a:blip>
          <a:srcRect l="1051" t="1002" r="1375" b="31623"/>
          <a:stretch>
            <a:fillRect/>
          </a:stretch>
        </p:blipFill>
        <p:spPr>
          <a:xfrm>
            <a:off x="5610" y="3195"/>
            <a:ext cx="14029487" cy="6860273"/>
          </a:xfrm>
          <a:prstGeom prst="rect">
            <a:avLst/>
          </a:prstGeom>
        </p:spPr>
      </p:pic>
      <p:sp>
        <p:nvSpPr>
          <p:cNvPr id="7" name="TextBox 6">
            <a:extLst>
              <a:ext uri="{FF2B5EF4-FFF2-40B4-BE49-F238E27FC236}">
                <a16:creationId xmlns:a16="http://schemas.microsoft.com/office/drawing/2014/main" id="{6ED22986-4002-326D-E1E5-BAEC92D9E73D}"/>
              </a:ext>
            </a:extLst>
          </p:cNvPr>
          <p:cNvSpPr txBox="1"/>
          <p:nvPr/>
        </p:nvSpPr>
        <p:spPr>
          <a:xfrm>
            <a:off x="-2237" y="3195"/>
            <a:ext cx="530013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solidFill>
                  <a:schemeClr val="bg1"/>
                </a:solidFill>
                <a:latin typeface="Tw Cen MT"/>
              </a:rPr>
              <a:t>S</a:t>
            </a:r>
            <a:r>
              <a:rPr lang="en-US" sz="3200" b="1">
                <a:solidFill>
                  <a:schemeClr val="bg1"/>
                </a:solidFill>
                <a:latin typeface="Tw Cen MT"/>
              </a:rPr>
              <a:t>OCIETAL</a:t>
            </a:r>
            <a:r>
              <a:rPr lang="en-US" sz="3200" b="1">
                <a:latin typeface="Tw Cen MT"/>
              </a:rPr>
              <a:t> </a:t>
            </a:r>
            <a:r>
              <a:rPr lang="en-US" sz="9600" b="1">
                <a:solidFill>
                  <a:schemeClr val="bg1"/>
                </a:solidFill>
                <a:latin typeface="Tw Cen MT"/>
              </a:rPr>
              <a:t>I</a:t>
            </a:r>
            <a:r>
              <a:rPr lang="en-US" sz="3200" b="1">
                <a:solidFill>
                  <a:schemeClr val="bg1"/>
                </a:solidFill>
                <a:latin typeface="Tw Cen MT"/>
              </a:rPr>
              <a:t>MPACT</a:t>
            </a:r>
          </a:p>
        </p:txBody>
      </p:sp>
      <p:sp>
        <p:nvSpPr>
          <p:cNvPr id="8" name="TextBox 7">
            <a:extLst>
              <a:ext uri="{FF2B5EF4-FFF2-40B4-BE49-F238E27FC236}">
                <a16:creationId xmlns:a16="http://schemas.microsoft.com/office/drawing/2014/main" id="{F6733945-9A75-1186-AAB2-00A1FCF298AF}"/>
              </a:ext>
            </a:extLst>
          </p:cNvPr>
          <p:cNvSpPr txBox="1"/>
          <p:nvPr/>
        </p:nvSpPr>
        <p:spPr>
          <a:xfrm>
            <a:off x="5610" y="1380226"/>
            <a:ext cx="117831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Franklin Gothic Demi Cond"/>
                <a:ea typeface="+mn-lt"/>
                <a:cs typeface="+mn-lt"/>
              </a:rPr>
              <a:t>Provides </a:t>
            </a:r>
            <a:r>
              <a:rPr lang="en-US" b="1">
                <a:solidFill>
                  <a:schemeClr val="bg1"/>
                </a:solidFill>
                <a:latin typeface="Franklin Gothic Demi Cond"/>
                <a:ea typeface="+mn-lt"/>
                <a:cs typeface="+mn-lt"/>
              </a:rPr>
              <a:t>real-time data of volume of use of water and enables to view past readings enabling to make plans efficiently</a:t>
            </a:r>
            <a:endParaRPr lang="en-US">
              <a:solidFill>
                <a:schemeClr val="bg1"/>
              </a:solidFill>
              <a:latin typeface="Franklin Gothic Demi Cond"/>
            </a:endParaRPr>
          </a:p>
        </p:txBody>
      </p:sp>
      <p:sp>
        <p:nvSpPr>
          <p:cNvPr id="9" name="TextBox 8">
            <a:extLst>
              <a:ext uri="{FF2B5EF4-FFF2-40B4-BE49-F238E27FC236}">
                <a16:creationId xmlns:a16="http://schemas.microsoft.com/office/drawing/2014/main" id="{2A1F0CDD-2AE6-8E22-1100-E054AD7BBD01}"/>
              </a:ext>
            </a:extLst>
          </p:cNvPr>
          <p:cNvSpPr txBox="1"/>
          <p:nvPr/>
        </p:nvSpPr>
        <p:spPr>
          <a:xfrm>
            <a:off x="9819" y="1919201"/>
            <a:ext cx="367990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BEE354"/>
                </a:solidFill>
                <a:latin typeface="Franklin Gothic Demi Cond"/>
              </a:rPr>
              <a:t>BENEFCIERIES</a:t>
            </a:r>
            <a:r>
              <a:rPr lang="en-US">
                <a:solidFill>
                  <a:srgbClr val="FFDB00"/>
                </a:solidFill>
              </a:rPr>
              <a:t> </a:t>
            </a:r>
          </a:p>
        </p:txBody>
      </p:sp>
      <p:sp>
        <p:nvSpPr>
          <p:cNvPr id="10" name="TextBox 9">
            <a:extLst>
              <a:ext uri="{FF2B5EF4-FFF2-40B4-BE49-F238E27FC236}">
                <a16:creationId xmlns:a16="http://schemas.microsoft.com/office/drawing/2014/main" id="{05E56CCE-BE74-9A8E-7C69-7004541CB2DA}"/>
              </a:ext>
            </a:extLst>
          </p:cNvPr>
          <p:cNvSpPr txBox="1"/>
          <p:nvPr/>
        </p:nvSpPr>
        <p:spPr>
          <a:xfrm>
            <a:off x="1170176" y="2495615"/>
            <a:ext cx="10406772"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solidFill>
                  <a:srgbClr val="FFDB00"/>
                </a:solidFill>
                <a:latin typeface="Tw Cen MT"/>
                <a:ea typeface="+mn-lt"/>
                <a:cs typeface="+mn-lt"/>
              </a:rPr>
              <a:t>Households — Monitor usage and detect leaks </a:t>
            </a:r>
            <a:endParaRPr lang="en-US">
              <a:latin typeface="Tw Cen MT"/>
            </a:endParaRPr>
          </a:p>
          <a:p>
            <a:pPr marL="285750" indent="-285750">
              <a:buFont typeface="Arial"/>
              <a:buChar char="•"/>
            </a:pPr>
            <a:r>
              <a:rPr lang="en-US" sz="2400">
                <a:solidFill>
                  <a:srgbClr val="FFDB00"/>
                </a:solidFill>
                <a:latin typeface="Tw Cen MT"/>
                <a:ea typeface="+mn-lt"/>
                <a:cs typeface="+mn-lt"/>
              </a:rPr>
              <a:t>PGs &amp; Hostels — Track consumption and prevent wastage </a:t>
            </a:r>
            <a:endParaRPr lang="en-US">
              <a:latin typeface="Tw Cen MT"/>
            </a:endParaRPr>
          </a:p>
          <a:p>
            <a:pPr marL="285750" indent="-285750">
              <a:buFont typeface="Arial"/>
              <a:buChar char="•"/>
            </a:pPr>
            <a:r>
              <a:rPr lang="en-US" sz="2400">
                <a:solidFill>
                  <a:srgbClr val="FFDB00"/>
                </a:solidFill>
                <a:latin typeface="Tw Cen MT"/>
                <a:ea typeface="+mn-lt"/>
                <a:cs typeface="+mn-lt"/>
              </a:rPr>
              <a:t>Schools &amp; Colleges — Monitor and conserve water </a:t>
            </a:r>
            <a:endParaRPr lang="en-US">
              <a:latin typeface="Tw Cen MT"/>
            </a:endParaRPr>
          </a:p>
          <a:p>
            <a:pPr marL="285750" indent="-285750">
              <a:buFont typeface="Arial"/>
              <a:buChar char="•"/>
            </a:pPr>
            <a:r>
              <a:rPr lang="en-US" sz="2400">
                <a:solidFill>
                  <a:srgbClr val="FFDB00"/>
                </a:solidFill>
                <a:latin typeface="Tw Cen MT"/>
                <a:ea typeface="+mn-lt"/>
                <a:cs typeface="+mn-lt"/>
              </a:rPr>
              <a:t>Shops &amp; Businesses — Reduce water usage and costs </a:t>
            </a:r>
            <a:endParaRPr lang="en-US">
              <a:latin typeface="Tw Cen MT"/>
            </a:endParaRPr>
          </a:p>
          <a:p>
            <a:pPr marL="285750" indent="-285750">
              <a:buFont typeface="Arial"/>
              <a:buChar char="•"/>
            </a:pPr>
            <a:r>
              <a:rPr lang="en-US" sz="2400">
                <a:solidFill>
                  <a:srgbClr val="FFDB00"/>
                </a:solidFill>
                <a:latin typeface="Tw Cen MT"/>
                <a:ea typeface="+mn-lt"/>
                <a:cs typeface="+mn-lt"/>
              </a:rPr>
              <a:t>Apartments — Detect common-line leaks and abnormal usage </a:t>
            </a:r>
            <a:endParaRPr lang="en-US">
              <a:latin typeface="Tw Cen MT"/>
            </a:endParaRPr>
          </a:p>
          <a:p>
            <a:pPr marL="285750" indent="-285750">
              <a:buFont typeface="Arial"/>
              <a:buChar char="•"/>
            </a:pPr>
            <a:r>
              <a:rPr lang="en-US" sz="2400">
                <a:solidFill>
                  <a:srgbClr val="FFDB00"/>
                </a:solidFill>
                <a:latin typeface="Tw Cen MT"/>
                <a:ea typeface="+mn-lt"/>
                <a:cs typeface="+mn-lt"/>
              </a:rPr>
              <a:t>Communities — Promote sustainable water management </a:t>
            </a:r>
            <a:endParaRPr lang="en-US">
              <a:latin typeface="Tw Cen MT"/>
            </a:endParaRPr>
          </a:p>
          <a:p>
            <a:endParaRPr lang="en-US" sz="2400" b="1">
              <a:solidFill>
                <a:srgbClr val="FFDB00"/>
              </a:solidFill>
              <a:latin typeface="Tw Cen MT"/>
            </a:endParaRPr>
          </a:p>
          <a:p>
            <a:pPr marL="285750" indent="-285750">
              <a:buFont typeface="Arial"/>
              <a:buChar char="•"/>
            </a:pPr>
            <a:endParaRPr lang="en-US" sz="2400" b="1">
              <a:solidFill>
                <a:srgbClr val="FFDB00"/>
              </a:solidFill>
              <a:latin typeface="Tw Cen MT"/>
            </a:endParaRPr>
          </a:p>
        </p:txBody>
      </p:sp>
      <p:sp>
        <p:nvSpPr>
          <p:cNvPr id="2" name="TextBox 1">
            <a:extLst>
              <a:ext uri="{FF2B5EF4-FFF2-40B4-BE49-F238E27FC236}">
                <a16:creationId xmlns:a16="http://schemas.microsoft.com/office/drawing/2014/main" id="{8BB8CA4B-7454-FD89-0CFC-ABD036FE1DEC}"/>
              </a:ext>
            </a:extLst>
          </p:cNvPr>
          <p:cNvSpPr txBox="1"/>
          <p:nvPr/>
        </p:nvSpPr>
        <p:spPr>
          <a:xfrm>
            <a:off x="9819" y="4809049"/>
            <a:ext cx="526141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BEE354"/>
                </a:solidFill>
                <a:latin typeface="Franklin Gothic Demi Cond"/>
              </a:rPr>
              <a:t>PRACTICAL IMPACT ON SOCIETY</a:t>
            </a:r>
          </a:p>
        </p:txBody>
      </p:sp>
      <p:sp>
        <p:nvSpPr>
          <p:cNvPr id="3" name="TextBox 2">
            <a:extLst>
              <a:ext uri="{FF2B5EF4-FFF2-40B4-BE49-F238E27FC236}">
                <a16:creationId xmlns:a16="http://schemas.microsoft.com/office/drawing/2014/main" id="{05948268-9C5B-2C6E-6652-8EFE22BBCA1F}"/>
              </a:ext>
            </a:extLst>
          </p:cNvPr>
          <p:cNvSpPr txBox="1"/>
          <p:nvPr/>
        </p:nvSpPr>
        <p:spPr>
          <a:xfrm>
            <a:off x="966439" y="5538439"/>
            <a:ext cx="107795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solidFill>
                  <a:srgbClr val="FFDB00"/>
                </a:solidFill>
                <a:latin typeface="Tw Cen MT"/>
              </a:rPr>
              <a:t>This project provides multiple </a:t>
            </a:r>
            <a:r>
              <a:rPr lang="en-US" b="1" err="1">
                <a:solidFill>
                  <a:srgbClr val="FFDB00"/>
                </a:solidFill>
                <a:latin typeface="Tw Cen MT"/>
              </a:rPr>
              <a:t>alerts,a</a:t>
            </a:r>
            <a:r>
              <a:rPr lang="en-US" b="1">
                <a:solidFill>
                  <a:srgbClr val="FFDB00"/>
                </a:solidFill>
                <a:latin typeface="Tw Cen MT"/>
              </a:rPr>
              <a:t> </a:t>
            </a:r>
            <a:r>
              <a:rPr lang="en-US" b="1" err="1">
                <a:solidFill>
                  <a:srgbClr val="FFDB00"/>
                </a:solidFill>
                <a:latin typeface="Tw Cen MT"/>
              </a:rPr>
              <a:t>sms</a:t>
            </a:r>
            <a:r>
              <a:rPr lang="en-US" b="1">
                <a:solidFill>
                  <a:srgbClr val="FFDB00"/>
                </a:solidFill>
                <a:latin typeface="Tw Cen MT"/>
              </a:rPr>
              <a:t> </a:t>
            </a:r>
            <a:r>
              <a:rPr lang="en-US" b="1" err="1">
                <a:solidFill>
                  <a:srgbClr val="FFDB00"/>
                </a:solidFill>
                <a:latin typeface="Tw Cen MT"/>
              </a:rPr>
              <a:t>alert,</a:t>
            </a:r>
            <a:r>
              <a:rPr lang="en-US" b="1" err="1">
                <a:solidFill>
                  <a:srgbClr val="FFDB00"/>
                </a:solidFill>
                <a:latin typeface="Tw Cen MT"/>
                <a:ea typeface="+mn-lt"/>
                <a:cs typeface="+mn-lt"/>
              </a:rPr>
              <a:t>Helps</a:t>
            </a:r>
            <a:r>
              <a:rPr lang="en-US" b="1">
                <a:solidFill>
                  <a:srgbClr val="FFDB00"/>
                </a:solidFill>
                <a:latin typeface="Tw Cen MT"/>
                <a:ea typeface="+mn-lt"/>
                <a:cs typeface="+mn-lt"/>
              </a:rPr>
              <a:t> users protect clothes, equipment, construction materials, agricultural activities and outdoor operations from unexpected localized rainfall</a:t>
            </a:r>
            <a:r>
              <a:rPr lang="en-US">
                <a:solidFill>
                  <a:srgbClr val="FFDB00"/>
                </a:solidFill>
                <a:ea typeface="+mn-lt"/>
                <a:cs typeface="+mn-lt"/>
              </a:rPr>
              <a:t>.</a:t>
            </a:r>
            <a:endParaRPr lang="en-US">
              <a:solidFill>
                <a:srgbClr val="FFDB00"/>
              </a:solidFill>
            </a:endParaRPr>
          </a:p>
        </p:txBody>
      </p:sp>
    </p:spTree>
    <p:extLst>
      <p:ext uri="{BB962C8B-B14F-4D97-AF65-F5344CB8AC3E}">
        <p14:creationId xmlns:p14="http://schemas.microsoft.com/office/powerpoint/2010/main" val="3468616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ED22986-4002-326D-E1E5-BAEC92D9E73D}"/>
              </a:ext>
            </a:extLst>
          </p:cNvPr>
          <p:cNvSpPr txBox="1"/>
          <p:nvPr/>
        </p:nvSpPr>
        <p:spPr>
          <a:xfrm>
            <a:off x="-11058426" y="3195"/>
            <a:ext cx="530013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solidFill>
                  <a:schemeClr val="bg1"/>
                </a:solidFill>
                <a:latin typeface="Tw Cen MT"/>
              </a:rPr>
              <a:t>S</a:t>
            </a:r>
            <a:r>
              <a:rPr lang="en-US" sz="3200" b="1">
                <a:solidFill>
                  <a:schemeClr val="bg1"/>
                </a:solidFill>
                <a:latin typeface="Tw Cen MT"/>
              </a:rPr>
              <a:t>OCIETAL</a:t>
            </a:r>
            <a:r>
              <a:rPr lang="en-US" sz="3200" b="1">
                <a:latin typeface="Tw Cen MT"/>
              </a:rPr>
              <a:t> </a:t>
            </a:r>
            <a:r>
              <a:rPr lang="en-US" sz="9600" b="1">
                <a:solidFill>
                  <a:schemeClr val="bg1"/>
                </a:solidFill>
                <a:latin typeface="Tw Cen MT"/>
              </a:rPr>
              <a:t>I</a:t>
            </a:r>
            <a:r>
              <a:rPr lang="en-US" sz="3200" b="1">
                <a:solidFill>
                  <a:schemeClr val="bg1"/>
                </a:solidFill>
                <a:latin typeface="Tw Cen MT"/>
              </a:rPr>
              <a:t>MPACT</a:t>
            </a:r>
          </a:p>
        </p:txBody>
      </p:sp>
      <p:sp>
        <p:nvSpPr>
          <p:cNvPr id="8" name="TextBox 7">
            <a:extLst>
              <a:ext uri="{FF2B5EF4-FFF2-40B4-BE49-F238E27FC236}">
                <a16:creationId xmlns:a16="http://schemas.microsoft.com/office/drawing/2014/main" id="{F6733945-9A75-1186-AAB2-00A1FCF298AF}"/>
              </a:ext>
            </a:extLst>
          </p:cNvPr>
          <p:cNvSpPr txBox="1"/>
          <p:nvPr/>
        </p:nvSpPr>
        <p:spPr>
          <a:xfrm>
            <a:off x="-11050579" y="1380226"/>
            <a:ext cx="117831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Franklin Gothic Demi Cond"/>
                <a:ea typeface="+mn-lt"/>
                <a:cs typeface="+mn-lt"/>
              </a:rPr>
              <a:t>Provides </a:t>
            </a:r>
            <a:r>
              <a:rPr lang="en-US" b="1">
                <a:solidFill>
                  <a:schemeClr val="bg1"/>
                </a:solidFill>
                <a:latin typeface="Franklin Gothic Demi Cond"/>
                <a:ea typeface="+mn-lt"/>
                <a:cs typeface="+mn-lt"/>
              </a:rPr>
              <a:t>real-time rain detection at a specific location</a:t>
            </a:r>
            <a:r>
              <a:rPr lang="en-US">
                <a:solidFill>
                  <a:schemeClr val="bg1"/>
                </a:solidFill>
                <a:latin typeface="Franklin Gothic Demi Cond"/>
                <a:ea typeface="+mn-lt"/>
                <a:cs typeface="+mn-lt"/>
              </a:rPr>
              <a:t>, reducing dependence on broad-area weather forecasts</a:t>
            </a:r>
            <a:endParaRPr lang="en-US">
              <a:latin typeface="Franklin Gothic Demi Cond"/>
            </a:endParaRPr>
          </a:p>
        </p:txBody>
      </p:sp>
      <p:sp>
        <p:nvSpPr>
          <p:cNvPr id="9" name="TextBox 8">
            <a:extLst>
              <a:ext uri="{FF2B5EF4-FFF2-40B4-BE49-F238E27FC236}">
                <a16:creationId xmlns:a16="http://schemas.microsoft.com/office/drawing/2014/main" id="{2A1F0CDD-2AE6-8E22-1100-E054AD7BBD01}"/>
              </a:ext>
            </a:extLst>
          </p:cNvPr>
          <p:cNvSpPr txBox="1"/>
          <p:nvPr/>
        </p:nvSpPr>
        <p:spPr>
          <a:xfrm>
            <a:off x="-11046370" y="1919201"/>
            <a:ext cx="367990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BEE354"/>
                </a:solidFill>
                <a:latin typeface="Franklin Gothic Demi Cond"/>
              </a:rPr>
              <a:t>BENEFCIERIES</a:t>
            </a:r>
            <a:r>
              <a:rPr lang="en-US">
                <a:solidFill>
                  <a:srgbClr val="FFDB00"/>
                </a:solidFill>
              </a:rPr>
              <a:t> </a:t>
            </a:r>
          </a:p>
        </p:txBody>
      </p:sp>
      <p:sp>
        <p:nvSpPr>
          <p:cNvPr id="10" name="TextBox 9">
            <a:extLst>
              <a:ext uri="{FF2B5EF4-FFF2-40B4-BE49-F238E27FC236}">
                <a16:creationId xmlns:a16="http://schemas.microsoft.com/office/drawing/2014/main" id="{05E56CCE-BE74-9A8E-7C69-7004541CB2DA}"/>
              </a:ext>
            </a:extLst>
          </p:cNvPr>
          <p:cNvSpPr txBox="1"/>
          <p:nvPr/>
        </p:nvSpPr>
        <p:spPr>
          <a:xfrm>
            <a:off x="-9886013" y="2509726"/>
            <a:ext cx="553843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b="1">
                <a:solidFill>
                  <a:srgbClr val="FFDB00"/>
                </a:solidFill>
                <a:latin typeface="Tw Cen MT"/>
                <a:ea typeface="+mn-lt"/>
                <a:cs typeface="+mn-lt"/>
              </a:rPr>
              <a:t>Households and residents </a:t>
            </a:r>
            <a:endParaRPr lang="en-US" sz="2400" b="1">
              <a:solidFill>
                <a:srgbClr val="FFDB00"/>
              </a:solidFill>
              <a:latin typeface="Tw Cen MT"/>
            </a:endParaRPr>
          </a:p>
          <a:p>
            <a:pPr marL="285750" indent="-285750">
              <a:buFont typeface="Arial"/>
              <a:buChar char="•"/>
            </a:pPr>
            <a:r>
              <a:rPr lang="en-US" sz="2400" b="1">
                <a:solidFill>
                  <a:srgbClr val="FFDB00"/>
                </a:solidFill>
                <a:latin typeface="Tw Cen MT"/>
                <a:ea typeface="+mn-lt"/>
                <a:cs typeface="+mn-lt"/>
              </a:rPr>
              <a:t>Farmers and agricultural workers </a:t>
            </a:r>
            <a:endParaRPr lang="en-US" sz="2400" b="1">
              <a:solidFill>
                <a:srgbClr val="FFDB00"/>
              </a:solidFill>
              <a:latin typeface="Tw Cen MT"/>
            </a:endParaRPr>
          </a:p>
          <a:p>
            <a:pPr marL="285750" indent="-285750">
              <a:buFont typeface="Arial"/>
              <a:buChar char="•"/>
            </a:pPr>
            <a:r>
              <a:rPr lang="en-US" sz="2400" b="1">
                <a:solidFill>
                  <a:srgbClr val="FFDB00"/>
                </a:solidFill>
                <a:latin typeface="Tw Cen MT"/>
                <a:ea typeface="+mn-lt"/>
                <a:cs typeface="+mn-lt"/>
              </a:rPr>
              <a:t>Construction workers </a:t>
            </a:r>
            <a:endParaRPr lang="en-US" sz="2400" b="1">
              <a:solidFill>
                <a:srgbClr val="FFDB00"/>
              </a:solidFill>
              <a:latin typeface="Tw Cen MT"/>
            </a:endParaRPr>
          </a:p>
          <a:p>
            <a:pPr marL="285750" indent="-285750">
              <a:buFont typeface="Arial"/>
              <a:buChar char="•"/>
            </a:pPr>
            <a:r>
              <a:rPr lang="en-US" sz="2400" b="1">
                <a:solidFill>
                  <a:srgbClr val="FFDB00"/>
                </a:solidFill>
                <a:latin typeface="Tw Cen MT"/>
                <a:ea typeface="+mn-lt"/>
                <a:cs typeface="+mn-lt"/>
              </a:rPr>
              <a:t>Logistics and warehouse teams </a:t>
            </a:r>
            <a:endParaRPr lang="en-US" sz="2400" b="1">
              <a:solidFill>
                <a:srgbClr val="FFDB00"/>
              </a:solidFill>
              <a:latin typeface="Tw Cen MT"/>
            </a:endParaRPr>
          </a:p>
          <a:p>
            <a:pPr marL="285750" indent="-285750">
              <a:buFont typeface="Arial"/>
              <a:buChar char="•"/>
            </a:pPr>
            <a:r>
              <a:rPr lang="en-US" sz="2400" b="1">
                <a:solidFill>
                  <a:srgbClr val="FFDB00"/>
                </a:solidFill>
                <a:latin typeface="Tw Cen MT"/>
                <a:ea typeface="+mn-lt"/>
                <a:cs typeface="+mn-lt"/>
              </a:rPr>
              <a:t>Sports ground managers </a:t>
            </a:r>
            <a:endParaRPr lang="en-US" sz="2400" b="1">
              <a:solidFill>
                <a:srgbClr val="FFDB00"/>
              </a:solidFill>
              <a:latin typeface="Tw Cen MT"/>
            </a:endParaRPr>
          </a:p>
          <a:p>
            <a:pPr marL="285750" indent="-285750">
              <a:buFont typeface="Arial"/>
              <a:buChar char="•"/>
            </a:pPr>
            <a:r>
              <a:rPr lang="en-US" sz="2400" b="1">
                <a:solidFill>
                  <a:srgbClr val="FFDB00"/>
                </a:solidFill>
                <a:latin typeface="Tw Cen MT"/>
                <a:ea typeface="+mn-lt"/>
                <a:cs typeface="+mn-lt"/>
              </a:rPr>
              <a:t>Outdoor event organizers</a:t>
            </a:r>
            <a:endParaRPr lang="en-US" sz="2400" b="1">
              <a:solidFill>
                <a:srgbClr val="FFDB00"/>
              </a:solidFill>
              <a:latin typeface="Tw Cen MT"/>
            </a:endParaRPr>
          </a:p>
        </p:txBody>
      </p:sp>
      <p:sp>
        <p:nvSpPr>
          <p:cNvPr id="2" name="TextBox 1">
            <a:extLst>
              <a:ext uri="{FF2B5EF4-FFF2-40B4-BE49-F238E27FC236}">
                <a16:creationId xmlns:a16="http://schemas.microsoft.com/office/drawing/2014/main" id="{8BB8CA4B-7454-FD89-0CFC-ABD036FE1DEC}"/>
              </a:ext>
            </a:extLst>
          </p:cNvPr>
          <p:cNvSpPr txBox="1"/>
          <p:nvPr/>
        </p:nvSpPr>
        <p:spPr>
          <a:xfrm>
            <a:off x="-11046370" y="4809049"/>
            <a:ext cx="526141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BEE354"/>
                </a:solidFill>
                <a:latin typeface="Franklin Gothic Demi Cond"/>
              </a:rPr>
              <a:t>PRACTICAL IMPACT ON SOCIETY</a:t>
            </a:r>
          </a:p>
        </p:txBody>
      </p:sp>
      <p:sp>
        <p:nvSpPr>
          <p:cNvPr id="3" name="TextBox 2">
            <a:extLst>
              <a:ext uri="{FF2B5EF4-FFF2-40B4-BE49-F238E27FC236}">
                <a16:creationId xmlns:a16="http://schemas.microsoft.com/office/drawing/2014/main" id="{05948268-9C5B-2C6E-6652-8EFE22BBCA1F}"/>
              </a:ext>
            </a:extLst>
          </p:cNvPr>
          <p:cNvSpPr txBox="1"/>
          <p:nvPr/>
        </p:nvSpPr>
        <p:spPr>
          <a:xfrm>
            <a:off x="-10089750" y="5538439"/>
            <a:ext cx="107795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solidFill>
                  <a:srgbClr val="FFDB00"/>
                </a:solidFill>
                <a:latin typeface="Tw Cen MT"/>
              </a:rPr>
              <a:t>This project provides multiple </a:t>
            </a:r>
            <a:r>
              <a:rPr lang="en-US" b="1" err="1">
                <a:solidFill>
                  <a:srgbClr val="FFDB00"/>
                </a:solidFill>
                <a:latin typeface="Tw Cen MT"/>
              </a:rPr>
              <a:t>alerts,a</a:t>
            </a:r>
            <a:r>
              <a:rPr lang="en-US" b="1">
                <a:solidFill>
                  <a:srgbClr val="FFDB00"/>
                </a:solidFill>
                <a:latin typeface="Tw Cen MT"/>
              </a:rPr>
              <a:t> </a:t>
            </a:r>
            <a:r>
              <a:rPr lang="en-US" b="1" err="1">
                <a:solidFill>
                  <a:srgbClr val="FFDB00"/>
                </a:solidFill>
                <a:latin typeface="Tw Cen MT"/>
              </a:rPr>
              <a:t>sms</a:t>
            </a:r>
            <a:r>
              <a:rPr lang="en-US" b="1">
                <a:solidFill>
                  <a:srgbClr val="FFDB00"/>
                </a:solidFill>
                <a:latin typeface="Tw Cen MT"/>
              </a:rPr>
              <a:t> </a:t>
            </a:r>
            <a:r>
              <a:rPr lang="en-US" b="1" err="1">
                <a:solidFill>
                  <a:srgbClr val="FFDB00"/>
                </a:solidFill>
                <a:latin typeface="Tw Cen MT"/>
              </a:rPr>
              <a:t>alert,</a:t>
            </a:r>
            <a:r>
              <a:rPr lang="en-US" b="1" err="1">
                <a:solidFill>
                  <a:srgbClr val="FFDB00"/>
                </a:solidFill>
                <a:latin typeface="Tw Cen MT"/>
                <a:ea typeface="+mn-lt"/>
                <a:cs typeface="+mn-lt"/>
              </a:rPr>
              <a:t>Helps</a:t>
            </a:r>
            <a:r>
              <a:rPr lang="en-US" b="1">
                <a:solidFill>
                  <a:srgbClr val="FFDB00"/>
                </a:solidFill>
                <a:latin typeface="Tw Cen MT"/>
                <a:ea typeface="+mn-lt"/>
                <a:cs typeface="+mn-lt"/>
              </a:rPr>
              <a:t> users protect clothes, equipment, construction materials, agricultural activities and outdoor operations from unexpected localized rainfall</a:t>
            </a:r>
            <a:r>
              <a:rPr lang="en-US">
                <a:solidFill>
                  <a:srgbClr val="FFDB00"/>
                </a:solidFill>
                <a:ea typeface="+mn-lt"/>
                <a:cs typeface="+mn-lt"/>
              </a:rPr>
              <a:t>.</a:t>
            </a:r>
            <a:endParaRPr lang="en-US">
              <a:solidFill>
                <a:srgbClr val="FFDB00"/>
              </a:solidFill>
            </a:endParaRPr>
          </a:p>
        </p:txBody>
      </p:sp>
      <p:pic>
        <p:nvPicPr>
          <p:cNvPr id="4" name="Picture 3">
            <a:extLst>
              <a:ext uri="{FF2B5EF4-FFF2-40B4-BE49-F238E27FC236}">
                <a16:creationId xmlns:a16="http://schemas.microsoft.com/office/drawing/2014/main" id="{B79D5987-36C6-6D89-13F1-AD0A70D08E6A}"/>
              </a:ext>
            </a:extLst>
          </p:cNvPr>
          <p:cNvPicPr>
            <a:picLocks noChangeAspect="1"/>
          </p:cNvPicPr>
          <p:nvPr/>
        </p:nvPicPr>
        <p:blipFill>
          <a:blip r:embed="rId2">
            <a:alphaModFix amt="48000"/>
          </a:blip>
          <a:stretch>
            <a:fillRect/>
          </a:stretch>
        </p:blipFill>
        <p:spPr>
          <a:xfrm>
            <a:off x="-10423" y="-7274"/>
            <a:ext cx="12184088" cy="7016321"/>
          </a:xfrm>
          <a:prstGeom prst="rect">
            <a:avLst/>
          </a:prstGeom>
        </p:spPr>
      </p:pic>
      <p:sp>
        <p:nvSpPr>
          <p:cNvPr id="11" name="TextBox 10">
            <a:extLst>
              <a:ext uri="{FF2B5EF4-FFF2-40B4-BE49-F238E27FC236}">
                <a16:creationId xmlns:a16="http://schemas.microsoft.com/office/drawing/2014/main" id="{517798CC-BD9C-0945-86CD-C36CABCC11E8}"/>
              </a:ext>
            </a:extLst>
          </p:cNvPr>
          <p:cNvSpPr txBox="1"/>
          <p:nvPr/>
        </p:nvSpPr>
        <p:spPr>
          <a:xfrm>
            <a:off x="-2237" y="3195"/>
            <a:ext cx="530013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a:solidFill>
                  <a:schemeClr val="bg1"/>
                </a:solidFill>
                <a:latin typeface="Tw Cen MT"/>
              </a:rPr>
              <a:t>F</a:t>
            </a:r>
            <a:r>
              <a:rPr lang="en-US" sz="3200" b="1">
                <a:solidFill>
                  <a:schemeClr val="bg1"/>
                </a:solidFill>
                <a:latin typeface="Tw Cen MT"/>
              </a:rPr>
              <a:t>UTURE</a:t>
            </a:r>
            <a:r>
              <a:rPr lang="en-US" sz="9600" b="1">
                <a:solidFill>
                  <a:schemeClr val="bg1"/>
                </a:solidFill>
                <a:latin typeface="Tw Cen MT"/>
              </a:rPr>
              <a:t> S</a:t>
            </a:r>
            <a:r>
              <a:rPr lang="en-US" sz="3200" b="1">
                <a:solidFill>
                  <a:schemeClr val="bg1"/>
                </a:solidFill>
                <a:latin typeface="Tw Cen MT"/>
              </a:rPr>
              <a:t>COPE</a:t>
            </a:r>
          </a:p>
        </p:txBody>
      </p:sp>
      <p:sp>
        <p:nvSpPr>
          <p:cNvPr id="12" name="TextBox 11">
            <a:extLst>
              <a:ext uri="{FF2B5EF4-FFF2-40B4-BE49-F238E27FC236}">
                <a16:creationId xmlns:a16="http://schemas.microsoft.com/office/drawing/2014/main" id="{69EB35C9-0535-89D7-CC90-8A905DB53BF2}"/>
              </a:ext>
            </a:extLst>
          </p:cNvPr>
          <p:cNvSpPr txBox="1"/>
          <p:nvPr/>
        </p:nvSpPr>
        <p:spPr>
          <a:xfrm>
            <a:off x="557560" y="1524000"/>
            <a:ext cx="11262731"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400">
                <a:solidFill>
                  <a:schemeClr val="bg1"/>
                </a:solidFill>
                <a:latin typeface="Tw Cen MT"/>
                <a:ea typeface="+mn-lt"/>
                <a:cs typeface="+mn-lt"/>
              </a:rPr>
              <a:t>Per-tap monitoring — Identify exactly which outlet is consuming or wasting water. </a:t>
            </a:r>
            <a:endParaRPr lang="en-US" sz="2400">
              <a:solidFill>
                <a:schemeClr val="bg1"/>
              </a:solidFill>
              <a:latin typeface="Tw Cen MT"/>
            </a:endParaRPr>
          </a:p>
          <a:p>
            <a:endParaRPr lang="en-US" sz="2400">
              <a:solidFill>
                <a:schemeClr val="bg1"/>
              </a:solidFill>
              <a:latin typeface="Tw Cen MT"/>
              <a:ea typeface="+mn-lt"/>
              <a:cs typeface="+mn-lt"/>
            </a:endParaRPr>
          </a:p>
          <a:p>
            <a:pPr>
              <a:buFont typeface="Arial"/>
              <a:buChar char="•"/>
            </a:pPr>
            <a:r>
              <a:rPr lang="en-US" sz="2400">
                <a:solidFill>
                  <a:schemeClr val="bg1"/>
                </a:solidFill>
                <a:latin typeface="Tw Cen MT"/>
                <a:ea typeface="+mn-lt"/>
                <a:cs typeface="+mn-lt"/>
              </a:rPr>
              <a:t>AI/ML leak prediction — Learn usage patterns and detect potential leaks before major wastage occurs. </a:t>
            </a:r>
            <a:endParaRPr lang="en-US" sz="2400">
              <a:solidFill>
                <a:schemeClr val="bg1"/>
              </a:solidFill>
              <a:latin typeface="Tw Cen MT"/>
            </a:endParaRPr>
          </a:p>
          <a:p>
            <a:endParaRPr lang="en-US" sz="2400">
              <a:solidFill>
                <a:schemeClr val="bg1"/>
              </a:solidFill>
              <a:latin typeface="Tw Cen MT"/>
              <a:ea typeface="+mn-lt"/>
              <a:cs typeface="+mn-lt"/>
            </a:endParaRPr>
          </a:p>
          <a:p>
            <a:pPr>
              <a:buFont typeface="Arial"/>
              <a:buChar char="•"/>
            </a:pPr>
            <a:r>
              <a:rPr lang="en-US" sz="2400">
                <a:solidFill>
                  <a:schemeClr val="bg1"/>
                </a:solidFill>
                <a:latin typeface="Tw Cen MT"/>
                <a:ea typeface="+mn-lt"/>
                <a:cs typeface="+mn-lt"/>
              </a:rPr>
              <a:t>Mobile app integration — Monitor water usage, estimated cost, and alerts remotely.</a:t>
            </a:r>
          </a:p>
          <a:p>
            <a:endParaRPr lang="en-US" sz="2400">
              <a:solidFill>
                <a:schemeClr val="bg1"/>
              </a:solidFill>
              <a:latin typeface="Tw Cen MT"/>
            </a:endParaRPr>
          </a:p>
          <a:p>
            <a:pPr>
              <a:buFont typeface="Arial"/>
              <a:buChar char="•"/>
            </a:pPr>
            <a:r>
              <a:rPr lang="en-US" sz="2400">
                <a:solidFill>
                  <a:schemeClr val="bg1"/>
                </a:solidFill>
                <a:latin typeface="Tw Cen MT"/>
                <a:ea typeface="+mn-lt"/>
                <a:cs typeface="+mn-lt"/>
              </a:rPr>
              <a:t>Automatic water control — Automatically stop the water supply when abnormal flow or overflow is detected. </a:t>
            </a:r>
            <a:endParaRPr lang="en-US" sz="2400">
              <a:solidFill>
                <a:schemeClr val="bg1"/>
              </a:solidFill>
              <a:latin typeface="Tw Cen MT"/>
            </a:endParaRPr>
          </a:p>
          <a:p>
            <a:endParaRPr lang="en-US" sz="2400">
              <a:solidFill>
                <a:schemeClr val="bg1"/>
              </a:solidFill>
              <a:latin typeface="Tw Cen MT"/>
              <a:ea typeface="+mn-lt"/>
              <a:cs typeface="+mn-lt"/>
            </a:endParaRPr>
          </a:p>
          <a:p>
            <a:pPr>
              <a:buFont typeface="Arial"/>
              <a:buChar char="•"/>
            </a:pPr>
            <a:r>
              <a:rPr lang="en-US" sz="2400">
                <a:solidFill>
                  <a:schemeClr val="bg1"/>
                </a:solidFill>
                <a:latin typeface="Tw Cen MT"/>
                <a:ea typeface="+mn-lt"/>
                <a:cs typeface="+mn-lt"/>
              </a:rPr>
              <a:t>Consumption forecasting — Predict future water usage and help users plan their monthly water budget.</a:t>
            </a:r>
            <a:endParaRPr lang="en-US" sz="2400">
              <a:solidFill>
                <a:schemeClr val="bg1"/>
              </a:solidFill>
              <a:latin typeface="Tw Cen MT"/>
            </a:endParaRPr>
          </a:p>
          <a:p>
            <a:pPr marL="285750" indent="-285750">
              <a:buFont typeface="Arial"/>
              <a:buChar char="•"/>
            </a:pPr>
            <a:endParaRPr lang="en-US" sz="2400">
              <a:solidFill>
                <a:schemeClr val="bg1"/>
              </a:solidFill>
              <a:latin typeface="Tw Cen MT"/>
            </a:endParaRPr>
          </a:p>
        </p:txBody>
      </p:sp>
    </p:spTree>
    <p:extLst>
      <p:ext uri="{BB962C8B-B14F-4D97-AF65-F5344CB8AC3E}">
        <p14:creationId xmlns:p14="http://schemas.microsoft.com/office/powerpoint/2010/main" val="186168594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ree Simple Thank You Slides - SlideChef">
            <a:extLst>
              <a:ext uri="{FF2B5EF4-FFF2-40B4-BE49-F238E27FC236}">
                <a16:creationId xmlns:a16="http://schemas.microsoft.com/office/drawing/2014/main" id="{198F0A58-5BB2-44B6-592B-82E12BC25DC8}"/>
              </a:ext>
            </a:extLst>
          </p:cNvPr>
          <p:cNvPicPr>
            <a:picLocks noChangeAspect="1"/>
          </p:cNvPicPr>
          <p:nvPr/>
        </p:nvPicPr>
        <p:blipFill>
          <a:blip r:embed="rId2"/>
          <a:stretch>
            <a:fillRect/>
          </a:stretch>
        </p:blipFill>
        <p:spPr>
          <a:xfrm>
            <a:off x="-5751" y="-2336"/>
            <a:ext cx="12217878" cy="6862671"/>
          </a:xfrm>
          <a:prstGeom prst="rect">
            <a:avLst/>
          </a:prstGeom>
        </p:spPr>
      </p:pic>
    </p:spTree>
    <p:extLst>
      <p:ext uri="{BB962C8B-B14F-4D97-AF65-F5344CB8AC3E}">
        <p14:creationId xmlns:p14="http://schemas.microsoft.com/office/powerpoint/2010/main" val="16704231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2026-09-12T08:08:18Z</dcterms:created>
  <dcterms:modified xsi:type="dcterms:W3CDTF">2026-10-25T03:58:37Z</dcterms:modified>
</cp:coreProperties>
</file>